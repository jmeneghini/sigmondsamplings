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2c7afde1264a1e" /><Relationship Type="http://schemas.openxmlformats.org/officeDocument/2006/relationships/extended-properties" Target="/docProps/app.xml" Id="R6f9779c38fba45c9" /><Relationship Type="http://schemas.openxmlformats.org/officeDocument/2006/relationships/officeDocument" Target="/ppt/presentation.xml" Id="R9c705652004f4080" /></Relationships>
</file>

<file path=ppt/presentation.xml><?xml version="1.0" encoding="utf-8"?>
<p:presentation xmlns:p="http://schemas.openxmlformats.org/presentationml/2006/main">
  <p:sldMasterIdLst>
    <p:sldMasterId xmlns:r="http://schemas.openxmlformats.org/officeDocument/2006/relationships" id="2147483648" r:id="R45c3eb705d954b4e"/>
  </p:sldMasterIdLst>
  <p:notesMasterIdLst>
    <p:notesMasterId xmlns:r="http://schemas.openxmlformats.org/officeDocument/2006/relationships" r:id="R01c745e4d9a243bc"/>
  </p:notesMasterIdLst>
  <p:sldIdLst>
    <p:sldId xmlns:r="http://schemas.openxmlformats.org/officeDocument/2006/relationships" id="256" r:id="R1e31ff33645d405c"/>
    <p:sldId xmlns:r="http://schemas.openxmlformats.org/officeDocument/2006/relationships" id="257" r:id="R63831a0ba370489b"/>
    <p:sldId xmlns:r="http://schemas.openxmlformats.org/officeDocument/2006/relationships" id="258" r:id="R0f03fe36dc5c4271"/>
    <p:sldId xmlns:r="http://schemas.openxmlformats.org/officeDocument/2006/relationships" id="259" r:id="R27338d37e4ad461a"/>
    <p:sldId xmlns:r="http://schemas.openxmlformats.org/officeDocument/2006/relationships" id="260" r:id="R9a243fcfabe644ac"/>
    <p:sldId xmlns:r="http://schemas.openxmlformats.org/officeDocument/2006/relationships" id="261" r:id="Rd31c5331670f4d6d"/>
    <p:sldId xmlns:r="http://schemas.openxmlformats.org/officeDocument/2006/relationships" id="262" r:id="Rc566cb9b89c643ce"/>
    <p:sldId xmlns:r="http://schemas.openxmlformats.org/officeDocument/2006/relationships" id="263" r:id="R70854e288b234578"/>
    <p:sldId xmlns:r="http://schemas.openxmlformats.org/officeDocument/2006/relationships" id="264" r:id="R135e64220c6941a8"/>
    <p:sldId xmlns:r="http://schemas.openxmlformats.org/officeDocument/2006/relationships" id="265" r:id="Ra5cd79eaecf542e3"/>
    <p:sldId xmlns:r="http://schemas.openxmlformats.org/officeDocument/2006/relationships" id="266" r:id="R83ef44f3583a467d"/>
    <p:sldId xmlns:r="http://schemas.openxmlformats.org/officeDocument/2006/relationships" id="267" r:id="R266c53bd6add4e27"/>
    <p:sldId xmlns:r="http://schemas.openxmlformats.org/officeDocument/2006/relationships" id="268" r:id="R4a2506a8b52b4dba"/>
    <p:sldId xmlns:r="http://schemas.openxmlformats.org/officeDocument/2006/relationships" id="269" r:id="Rddc4aaf1a69c4567"/>
    <p:sldId xmlns:r="http://schemas.openxmlformats.org/officeDocument/2006/relationships" id="270" r:id="R5571269b032a4645"/>
    <p:sldId xmlns:r="http://schemas.openxmlformats.org/officeDocument/2006/relationships" id="271" r:id="R446f126a89f945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c27b82ad62445e" /><Relationship Type="http://schemas.openxmlformats.org/officeDocument/2006/relationships/slideMaster" Target="/ppt/slideMasters/slideMaster1.xml" Id="R45c3eb705d954b4e" /><Relationship Type="http://schemas.openxmlformats.org/officeDocument/2006/relationships/notesMaster" Target="/ppt/notesMasters/notesMaster1.xml" Id="R01c745e4d9a243bc" /><Relationship Type="http://schemas.openxmlformats.org/officeDocument/2006/relationships/presProps" Target="/ppt/presProps.xml" Id="Racf778587a804957" /><Relationship Type="http://schemas.openxmlformats.org/officeDocument/2006/relationships/tableStyles" Target="/ppt/tableStyles.xml" Id="R7d39e343012f46b4" /><Relationship Type="http://schemas.openxmlformats.org/officeDocument/2006/relationships/slide" Target="/ppt/slides/slide1.xml" Id="R1e31ff33645d405c" /><Relationship Type="http://schemas.openxmlformats.org/officeDocument/2006/relationships/slide" Target="/ppt/slides/slide2.xml" Id="R63831a0ba370489b" /><Relationship Type="http://schemas.openxmlformats.org/officeDocument/2006/relationships/slide" Target="/ppt/slides/slide3.xml" Id="R0f03fe36dc5c4271" /><Relationship Type="http://schemas.openxmlformats.org/officeDocument/2006/relationships/slide" Target="/ppt/slides/slide4.xml" Id="R27338d37e4ad461a" /><Relationship Type="http://schemas.openxmlformats.org/officeDocument/2006/relationships/slide" Target="/ppt/slides/slide5.xml" Id="R9a243fcfabe644ac" /><Relationship Type="http://schemas.openxmlformats.org/officeDocument/2006/relationships/slide" Target="/ppt/slides/slide6.xml" Id="Rd31c5331670f4d6d" /><Relationship Type="http://schemas.openxmlformats.org/officeDocument/2006/relationships/slide" Target="/ppt/slides/slide7.xml" Id="Rc566cb9b89c643ce" /><Relationship Type="http://schemas.openxmlformats.org/officeDocument/2006/relationships/slide" Target="/ppt/slides/slide8.xml" Id="R70854e288b234578" /><Relationship Type="http://schemas.openxmlformats.org/officeDocument/2006/relationships/slide" Target="/ppt/slides/slide9.xml" Id="R135e64220c6941a8" /><Relationship Type="http://schemas.openxmlformats.org/officeDocument/2006/relationships/slide" Target="/ppt/slides/slide10.xml" Id="Ra5cd79eaecf542e3" /><Relationship Type="http://schemas.openxmlformats.org/officeDocument/2006/relationships/slide" Target="/ppt/slides/slide11.xml" Id="R83ef44f3583a467d" /><Relationship Type="http://schemas.openxmlformats.org/officeDocument/2006/relationships/slide" Target="/ppt/slides/slide12.xml" Id="R266c53bd6add4e27" /><Relationship Type="http://schemas.openxmlformats.org/officeDocument/2006/relationships/slide" Target="/ppt/slides/slide13.xml" Id="R4a2506a8b52b4dba" /><Relationship Type="http://schemas.openxmlformats.org/officeDocument/2006/relationships/slide" Target="/ppt/slides/slide14.xml" Id="Rddc4aaf1a69c4567" /><Relationship Type="http://schemas.openxmlformats.org/officeDocument/2006/relationships/slide" Target="/ppt/slides/slide15.xml" Id="R5571269b032a4645" /><Relationship Type="http://schemas.openxmlformats.org/officeDocument/2006/relationships/slide" Target="/ppt/slides/slide16.xml" Id="R446f126a89f945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c3aa840a4643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31f1ec83ab468e" /><Relationship Type="http://schemas.openxmlformats.org/officeDocument/2006/relationships/notesMaster" Target="/ppt/notesMasters/notesMaster1.xml" Id="Rc98e2764a0354b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c877ac2f4b408b" /><Relationship Type="http://schemas.openxmlformats.org/officeDocument/2006/relationships/notesMaster" Target="/ppt/notesMasters/notesMaster1.xml" Id="R81e9a9df795b40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9364ecc6264d4c" /><Relationship Type="http://schemas.openxmlformats.org/officeDocument/2006/relationships/notesMaster" Target="/ppt/notesMasters/notesMaster1.xml" Id="R0e5f16415b1849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f222ad0210470b" /><Relationship Type="http://schemas.openxmlformats.org/officeDocument/2006/relationships/notesMaster" Target="/ppt/notesMasters/notesMaster1.xml" Id="R2e20669f1f3e41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30ba84463f418c" /><Relationship Type="http://schemas.openxmlformats.org/officeDocument/2006/relationships/notesMaster" Target="/ppt/notesMasters/notesMaster1.xml" Id="R089fda77de2a4e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02824e9da84e11" /><Relationship Type="http://schemas.openxmlformats.org/officeDocument/2006/relationships/notesMaster" Target="/ppt/notesMasters/notesMaster1.xml" Id="Raa1f2e1c726d49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1e9aee11b84f8d" /><Relationship Type="http://schemas.openxmlformats.org/officeDocument/2006/relationships/notesMaster" Target="/ppt/notesMasters/notesMaster1.xml" Id="R9aa18822d06f41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f6615b0f9c474a" /><Relationship Type="http://schemas.openxmlformats.org/officeDocument/2006/relationships/notesMaster" Target="/ppt/notesMasters/notesMaster1.xml" Id="R4835c7901b4b41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f59cad8d164bee" /><Relationship Type="http://schemas.openxmlformats.org/officeDocument/2006/relationships/notesMaster" Target="/ppt/notesMasters/notesMaster1.xml" Id="R7f9d2c3fc8754c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28388432f6487e" /><Relationship Type="http://schemas.openxmlformats.org/officeDocument/2006/relationships/notesMaster" Target="/ppt/notesMasters/notesMaster1.xml" Id="Ra2517553edb849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34c1a001164ab8" /><Relationship Type="http://schemas.openxmlformats.org/officeDocument/2006/relationships/notesMaster" Target="/ppt/notesMasters/notesMaster1.xml" Id="R2932af499ca448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2a1bc47bcc4807" /><Relationship Type="http://schemas.openxmlformats.org/officeDocument/2006/relationships/notesMaster" Target="/ppt/notesMasters/notesMaster1.xml" Id="R726f282aa2a14d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a2e3af0a304a7f" /><Relationship Type="http://schemas.openxmlformats.org/officeDocument/2006/relationships/notesMaster" Target="/ppt/notesMasters/notesMaster1.xml" Id="R061e327942f447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af28f6819e4c14" /><Relationship Type="http://schemas.openxmlformats.org/officeDocument/2006/relationships/notesMaster" Target="/ppt/notesMasters/notesMaster1.xml" Id="R906c7d28deae44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c72dc507ae4919" /><Relationship Type="http://schemas.openxmlformats.org/officeDocument/2006/relationships/notesMaster" Target="/ppt/notesMasters/notesMaster1.xml" Id="Rbb8d9910114045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2c720227f3483d" /><Relationship Type="http://schemas.openxmlformats.org/officeDocument/2006/relationships/notesMaster" Target="/ppt/notesMasters/notesMaster1.xml" Id="R320254bd3db940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summarizes docs/quantity_redesign_plan.md. All new APIs are proposed. Numerical algorithms and sampling conventions remain in the existing data layer. The audience already knows ObservableInfo and its subclasses.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constructor matches the current EnergyObsInfo API. Inherited fields also include op_type, re_im and label overrides. Samples and SamplingInfo already live on the data container. This is a metadata redesign, not a proposal to relocate sample buffers into quantity keys.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estimate reference identifies one computed or loaded output. An address identifies a stored component, scoped by ensemble and artifact/group context. A complex value may have a pair of real/imaginary addresses. For arrays, the singular quantity/estimate/address access rules differ: quantity can describe a single time series, whereas estimate is a per-cell identity. Arrays expose mappings or plural accessors.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no one-for-one forced subclass hierarchy. Keys compose. RelativeMomentumSquared handles legacy qcmsq, and NonInteractingEnergy identifies a sum of constituent energies. CorrelatorInfo and VEVInfo are existing immutable keys to reuse or adapt, rather than replacing them with a redundant class hierarchy. Compatibility equality and constructors stay stable during migration.</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LevelKey includes an assignment scheme, channel and level number. A fitted pivot mode can instead have PivotModeKey as its state until physical level assignment. The mode includes a persisted pivot artifact identity. A shared Energy key describes a shared target, not equal sample values or interchangeable statistical estimates.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SHEnergyObsInfo becomes an Energy with an explicit single-hadron descriptor. ParticleKey is immutable, unlike the current mutable/unhashable Particle. Shift references are structured, not a boolean. A tuple of shift-reference particles does not establish that the measured state is single-hadron. Reference identity belongs to the quantity, while the exact reference estimate and uncertainty treatment belong to provenance. qcmsq maps to RelativeMomentumSquared, not Energy.</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Templates and CoordRef are extension API machinery constructed by producers. A matrix does not need a stored heavyweight ObsInfo per cell to recover semantic meaning. It still retains independent estimate/address mappings and coverage masks. Rotated correlators bind sink and source separately using ModeBound(operator, mode), so off-diagonal C_mn retains both pivot modes. Sigmond export unwraps the original operator encoding and retains mode bindings in SS metadata.</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existing effective-energy kinds, failure policies and kernel conventions remain. A real component is a Component(Correlator, re) key and the producer recovers its underlying correlator target. A pivot binding supplies a local mode identity. A raw diagonal can support a channel-only target without inventing a level number. Extent/boundary context that changes the temporal model belongs in semantic context too, while an output display offset is derived rather than independently edited. An effective energy is not evidence that a single state is isolated.</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or adapt existing VEVInfo. A VEV key contains its operator, independent of ensemble and storage name. Multiple VEVs use a semantic operator axis. A complex VEV can have component addresses and explicit Component quantity projections. Input VEV estimate references belong in provenance when constructing connected correlators. This deck describes proposed APIs.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ModeBound independently binds each operator to a PivotModeKey. An overlap has one bound level side, whereas a rotated correlator can have two. The existing numerical amplitude/normalization conventions remain unchanged. The provenance references a retained pivot artifact and fitted amplitude estimates, without embedding the full rotation in every quantity or retaining all live arrays.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documentation uses sel(time=t). ts.at is equivalent convenience syntax. A selected scalar time coordinate must survive loss of the time dimension. Unselected time is a parameter dimension. Quantity access describes the function until its time argument is selected. The displayed point can lie at t plus offset, but source time stays t.</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API. single_exp is a proposed standard fit-time model, not a current post-fit factory. It declares a typed EnergyOfInput binding. Custom models can provide typed targets. Parameter spelling alone does not infer physics. Fit the exponential to c2, not to eff. Effective-energy fits require a suitable plateau/effective-energy model. fit.param continues to return SigmondSampling, including samples, quantity, estimate, ensemble and provenance.</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Illustration assumes both fits target the same state. EstimateRef contains a producer ID and output key, distinguishing E from A within one run. Selection and copies preserve references, new derivations create references. Quantity equality is useful for grouping, not deduplication. group_by_quantity returns lists. Export generates suggested addresses for derived results and preflights collisions. Persist estimate IDs when writing.</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quantity raises while semantic or replicate dimensions remain, independent of whether keys happen to be equal. quantities returns a requested xarray DataArray over semantic/replicate dims and omits unselected parameter dims. Scalar selected times evaluate keys. Materialization on request is not an inherently lazy object DataArray. estimates includes parameter dimensions because individual times identify different cell outputs. The Monte Carlo sample axis is internal, not a replicate dimension.</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Pure selection/transposition/reordering preserves per-cell estimate identity. Numerical operations create new output estimates and invalidate output addresses. Arithmetic must not preserve a quantity just because both operands have identical ObsInfo. Explicit normalized_by performs the sample arithmetic and semantic update together after sampling/ensemble compatibility checks. Generic or unsupported operations cannot silently retain old semantic identity. This slide deliberately contrasts structural and numerical operations in the table.</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Migration stages: establish immutable keys/codecs, add layout and estimate references, prove pivot diagonal through effective-energy selection and file round-trip, add typed fit targets and spectrum assignments, generalize other arrays, then consolidate old subclass adapters. Agents use the detailed plan for completion gates, legacy compatibility and tests. No new API is implemented by this presentation. Explicit state assignment is still necessary across ensembles and different pivots. Users need not construct templates/codecs/addresses for ordinary analysis.</a:t>
            </a:r>
          </a:p>
          <a:p xmlns:a="http://schemas.openxmlformats.org/drawingml/2006/main">
            <a:r>
              <a:t/>
            </a:r>
          </a:p>
          <a:p xmlns:a="http://schemas.openxmlformats.org/drawingml/2006/main">
            <a:r>
              <a:t>Source: docs/quantity_redesign_plan.md and current sigmondsamplings source. New API examples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785e747df548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b0e32dbae14577" /><Relationship Type="http://schemas.openxmlformats.org/officeDocument/2006/relationships/slideLayout" Target="/ppt/slideLayouts/slideLayout1.xml" Id="R7d9d75c5ea204f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9d75c5ea204f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f7482960e54406" /><Relationship Type="http://schemas.openxmlformats.org/officeDocument/2006/relationships/notesSlide" Target="/ppt/notesSlides/notesSlide1.xml" Id="R6c87a7d7b89b4b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e70f9b78c347d1" /><Relationship Type="http://schemas.openxmlformats.org/officeDocument/2006/relationships/notesSlide" Target="/ppt/notesSlides/notesSlide2.xml" Id="Rae08a6f4f49a45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6e054478c24db8" /><Relationship Type="http://schemas.openxmlformats.org/officeDocument/2006/relationships/notesSlide" Target="/ppt/notesSlides/notesSlide3.xml" Id="R12042aac1bae41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77f1bb71694ef3" /><Relationship Type="http://schemas.openxmlformats.org/officeDocument/2006/relationships/notesSlide" Target="/ppt/notesSlides/notesSlide4.xml" Id="Re79ac414a39e4d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43a1270ae046ec" /><Relationship Type="http://schemas.openxmlformats.org/officeDocument/2006/relationships/notesSlide" Target="/ppt/notesSlides/notesSlide5.xml" Id="Rb15d207097804e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3b6bedfc7a4e52" /><Relationship Type="http://schemas.openxmlformats.org/officeDocument/2006/relationships/notesSlide" Target="/ppt/notesSlides/notesSlide6.xml" Id="R0a4a763e1ef04f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5f1285f4944565" /><Relationship Type="http://schemas.openxmlformats.org/officeDocument/2006/relationships/notesSlide" Target="/ppt/notesSlides/notesSlide7.xml" Id="R9c9c7fe843124f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d1f243f676405c" /><Relationship Type="http://schemas.openxmlformats.org/officeDocument/2006/relationships/notesSlide" Target="/ppt/notesSlides/notesSlide8.xml" Id="Rcce6ccf71f4d41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7a1de27e6442be" /><Relationship Type="http://schemas.openxmlformats.org/officeDocument/2006/relationships/notesSlide" Target="/ppt/notesSlides/notesSlide9.xml" Id="R04d29979491d42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2cd8fe68204c30" /><Relationship Type="http://schemas.openxmlformats.org/officeDocument/2006/relationships/notesSlide" Target="/ppt/notesSlides/notesSlide10.xml" Id="Rf6f51733c8374f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9665dd04184bce" /><Relationship Type="http://schemas.openxmlformats.org/officeDocument/2006/relationships/notesSlide" Target="/ppt/notesSlides/notesSlide11.xml" Id="R1e6fe081f5404b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71001d05e3462a" /><Relationship Type="http://schemas.openxmlformats.org/officeDocument/2006/relationships/notesSlide" Target="/ppt/notesSlides/notesSlide12.xml" Id="Rb87c85fa982540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a5fd3c02a5473a" /><Relationship Type="http://schemas.openxmlformats.org/officeDocument/2006/relationships/notesSlide" Target="/ppt/notesSlides/notesSlide13.xml" Id="Rba370498de9645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13c6337c3347f8" /><Relationship Type="http://schemas.openxmlformats.org/officeDocument/2006/relationships/notesSlide" Target="/ppt/notesSlides/notesSlide14.xml" Id="Re55b4f7e08df40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42d91556bf43cb" /><Relationship Type="http://schemas.openxmlformats.org/officeDocument/2006/relationships/notesSlide" Target="/ppt/notesSlides/notesSlide15.xml" Id="Ra5c6eb24df2640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8dbf9c5c244352" /><Relationship Type="http://schemas.openxmlformats.org/officeDocument/2006/relationships/notesSlide" Target="/ppt/notesSlides/notesSlide16.xml" Id="Ra11b10286ffb4e10" /></Relationships>
</file>

<file path=ppt/slides/slide1.xml><?xml version="1.0" encoding="utf-8"?>
<p:sld xmlns:p="http://schemas.openxmlformats.org/presentationml/2006/main">
  <p:cSld>
    <p:bg>
      <p:bgPr>
        <a:solidFill xmlns:a="http://schemas.openxmlformats.org/drawingml/2006/main">
          <a:srgbClr val="132F3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CA0635C-30B7-45BA-BB94-D78436BEEEA8}"/>
              </a:ext>
            </a:extLst>
          </p:cNvPr>
          <p:cNvSpPr>
            <a:spLocks xmlns:a="http://schemas.openxmlformats.org/drawingml/2006/main" noGrp="1"/>
          </p:cNvSpPr>
          <p:nvPr/>
        </p:nvSpPr>
        <p:spPr>
          <a:xfrm xmlns:a="http://schemas.openxmlformats.org/drawingml/2006/main">
            <a:off x="723900" y="1619250"/>
            <a:ext cx="107442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The proposed ObsInfo redesign</a:t>
            </a:r>
          </a:p>
        </p:txBody>
      </p:sp>
      <p:sp>
        <p:nvSpPr>
          <p:cNvPr id="2" name="">
            <a:extLst xmlns:a="http://schemas.openxmlformats.org/drawingml/2006/main">
              <a:ext uri="{FF2B5EF4-FFF2-40B4-BE49-F238E27FC236}">
                <a16:creationId xmlns:a16="http://schemas.microsoft.com/office/drawing/2014/main" id="{A2A826DA-7F00-4C1D-802F-2FAF6CD2C1A7}"/>
              </a:ext>
            </a:extLst>
          </p:cNvPr>
          <p:cNvSpPr>
            <a:spLocks xmlns:a="http://schemas.openxmlformats.org/drawingml/2006/main" noGrp="1"/>
          </p:cNvSpPr>
          <p:nvPr/>
        </p:nvSpPr>
        <p:spPr>
          <a:xfrm xmlns:a="http://schemas.openxmlformats.org/drawingml/2006/main">
            <a:off x="762000" y="32861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D7E7EB"/>
                </a:solidFill>
                <a:latin typeface="Helvetica Neue"/>
                <a:ea typeface="Helvetica Neue"/>
                <a:cs typeface="Helvetica Neue"/>
              </a:defRPr>
            </a:pPr>
            <a:r>
              <a:rPr sz="2550" b="0">
                <a:solidFill>
                  <a:srgbClr val="D7E7EB"/>
                </a:solidFill>
                <a:latin typeface="Helvetica Neue"/>
                <a:ea typeface="Helvetica Neue"/>
                <a:cs typeface="Helvetica Neue"/>
              </a:rPr>
              <a:t>A guide for users of ObservableInfo</a:t>
            </a:r>
          </a:p>
          <a:p xmlns:a="http://schemas.openxmlformats.org/drawingml/2006/main">
            <a:pPr>
              <a:defRPr sz="2550" b="0">
                <a:solidFill>
                  <a:srgbClr val="D7E7EB"/>
                </a:solidFill>
                <a:latin typeface="Helvetica Neue"/>
                <a:ea typeface="Helvetica Neue"/>
                <a:cs typeface="Helvetica Neue"/>
              </a:defRPr>
            </a:pPr>
            <a:r>
              <a:rPr sz="2550" b="0">
                <a:solidFill>
                  <a:srgbClr val="D7E7EB"/>
                </a:solidFill>
                <a:latin typeface="Helvetica Neue"/>
                <a:ea typeface="Helvetica Neue"/>
                <a:cs typeface="Helvetica Neue"/>
              </a:rPr>
              <a:t>and its subclasses</a:t>
            </a:r>
          </a:p>
        </p:txBody>
      </p:sp>
      <p:sp>
        <p:nvSpPr>
          <p:cNvPr id="3" name="">
            <a:extLst xmlns:a="http://schemas.openxmlformats.org/drawingml/2006/main">
              <a:ext uri="{FF2B5EF4-FFF2-40B4-BE49-F238E27FC236}">
                <a16:creationId xmlns:a16="http://schemas.microsoft.com/office/drawing/2014/main" id="{D2FAFFA5-39E3-49C5-BE24-0C1F0A4DBD74}"/>
              </a:ext>
            </a:extLst>
          </p:cNvPr>
          <p:cNvSpPr>
            <a:spLocks xmlns:a="http://schemas.openxmlformats.org/drawingml/2006/main" noGrp="1"/>
          </p:cNvSpPr>
          <p:nvPr/>
        </p:nvSpPr>
        <p:spPr>
          <a:xfrm xmlns:a="http://schemas.openxmlformats.org/drawingml/2006/main">
            <a:off x="762000" y="542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CD9C5"/>
                </a:solidFill>
                <a:latin typeface="Helvetica Neue"/>
                <a:ea typeface="Helvetica Neue"/>
                <a:cs typeface="Helvetica Neue"/>
              </a:defRPr>
            </a:pPr>
            <a:r>
              <a:rPr sz="1875" b="0">
                <a:solidFill>
                  <a:srgbClr val="9CD9C5"/>
                </a:solidFill>
                <a:latin typeface="Helvetica Neue"/>
                <a:ea typeface="Helvetica Neue"/>
                <a:cs typeface="Helvetica Neue"/>
              </a:rPr>
              <a:t>What each observable needs, and where that data lives</a:t>
            </a:r>
          </a:p>
        </p:txBody>
      </p:sp>
    </p:spTree>
    <p:extLst>
      <p:ext uri="{BB962C8B-B14F-4D97-AF65-F5344CB8AC3E}">
        <p14:creationId xmlns:p14="http://schemas.microsoft.com/office/powerpoint/2010/main" val="1292844308"/>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693815-53B6-4BDF-B95A-DD3616DDF4B4}"/>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The ObservableInfo you know</a:t>
            </a:r>
          </a:p>
        </p:txBody>
      </p:sp>
      <p:sp>
        <p:nvSpPr>
          <p:cNvPr id="2" name="">
            <a:extLst xmlns:a="http://schemas.openxmlformats.org/drawingml/2006/main">
              <a:ext uri="{FF2B5EF4-FFF2-40B4-BE49-F238E27FC236}">
                <a16:creationId xmlns:a16="http://schemas.microsoft.com/office/drawing/2014/main" id="{12B013C1-E894-4395-83FD-A24F6DBFA5C4}"/>
              </a:ext>
            </a:extLst>
          </p:cNvPr>
          <p:cNvSpPr>
            <a:spLocks xmlns:a="http://schemas.openxmlformats.org/drawingml/2006/main" noGrp="1"/>
          </p:cNvSpPr>
          <p:nvPr/>
        </p:nvSpPr>
        <p:spPr>
          <a:xfrm xmlns:a="http://schemas.openxmlformats.org/drawingml/2006/main">
            <a:off x="704850" y="1524000"/>
            <a:ext cx="107823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info = EnergyObsInfo(</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name="fit_E2", index=0, ensemble_info=ens,</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irrep="A1g", psq=1, energy_type="elab",</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level_index=2,</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a:t>
            </a:r>
          </a:p>
        </p:txBody>
      </p:sp>
      <p:sp>
        <p:nvSpPr>
          <p:cNvPr id="3" name="">
            <a:extLst xmlns:a="http://schemas.openxmlformats.org/drawingml/2006/main">
              <a:ext uri="{FF2B5EF4-FFF2-40B4-BE49-F238E27FC236}">
                <a16:creationId xmlns:a16="http://schemas.microsoft.com/office/drawing/2014/main" id="{71606644-5C6E-4CB8-A6F4-E481DA9CECA7}"/>
              </a:ext>
            </a:extLst>
          </p:cNvPr>
          <p:cNvSpPr>
            <a:spLocks xmlns:a="http://schemas.openxmlformats.org/drawingml/2006/main" noGrp="1"/>
          </p:cNvSpPr>
          <p:nvPr/>
        </p:nvSpPr>
        <p:spPr>
          <a:xfrm xmlns:a="http://schemas.openxmlformats.org/drawingml/2006/main">
            <a:off x="704850" y="4305300"/>
            <a:ext cx="10782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B2B36"/>
                </a:solidFill>
                <a:latin typeface="Helvetica Neue"/>
                <a:ea typeface="Helvetica Neue"/>
                <a:cs typeface="Helvetica Neue"/>
              </a:defRPr>
            </a:pPr>
            <a:r>
              <a:rPr sz="2100" b="0">
                <a:solidFill>
                  <a:srgbClr val="1B2B36"/>
                </a:solidFill>
                <a:latin typeface="Helvetica Neue"/>
                <a:ea typeface="Helvetica Neue"/>
                <a:cs typeface="Helvetica Neue"/>
              </a:rPr>
              <a:t>One object carries the file name and index, the ensemble,</a:t>
            </a:r>
          </a:p>
          <a:p xmlns:a="http://schemas.openxmlformats.org/drawingml/2006/main">
            <a:pPr>
              <a:defRPr sz="2100" b="0">
                <a:solidFill>
                  <a:srgbClr val="1B2B36"/>
                </a:solidFill>
                <a:latin typeface="Helvetica Neue"/>
                <a:ea typeface="Helvetica Neue"/>
                <a:cs typeface="Helvetica Neue"/>
              </a:defRPr>
            </a:pPr>
            <a:r>
              <a:rPr sz="2100" b="0">
                <a:solidFill>
                  <a:srgbClr val="1B2B36"/>
                </a:solidFill>
                <a:latin typeface="Helvetica Neue"/>
                <a:ea typeface="Helvetica Neue"/>
                <a:cs typeface="Helvetica Neue"/>
              </a:rPr>
              <a:t>and the physical meaning of the energy.</a:t>
            </a:r>
          </a:p>
        </p:txBody>
      </p:sp>
      <p:sp>
        <p:nvSpPr>
          <p:cNvPr id="4" name="">
            <a:extLst xmlns:a="http://schemas.openxmlformats.org/drawingml/2006/main">
              <a:ext uri="{FF2B5EF4-FFF2-40B4-BE49-F238E27FC236}">
                <a16:creationId xmlns:a16="http://schemas.microsoft.com/office/drawing/2014/main" id="{DC0955FA-1A00-4B24-9356-828D10ED40EE}"/>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The redesign gives those fields separate homes.</a:t>
            </a:r>
          </a:p>
        </p:txBody>
      </p:sp>
      <p:sp>
        <p:nvSpPr>
          <p:cNvPr id="5" name="">
            <a:extLst xmlns:a="http://schemas.openxmlformats.org/drawingml/2006/main">
              <a:ext uri="{FF2B5EF4-FFF2-40B4-BE49-F238E27FC236}">
                <a16:creationId xmlns:a16="http://schemas.microsoft.com/office/drawing/2014/main" id="{32947DFA-6777-4760-A62A-79DD6D6C2CE5}"/>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02</a:t>
            </a:r>
          </a:p>
        </p:txBody>
      </p:sp>
    </p:spTree>
    <p:extLst>
      <p:ext uri="{BB962C8B-B14F-4D97-AF65-F5344CB8AC3E}">
        <p14:creationId xmlns:p14="http://schemas.microsoft.com/office/powerpoint/2010/main" val="1368753637"/>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FBEE13-3BAF-4FA4-8013-8029BE04B7E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Where the data goes</a:t>
            </a:r>
          </a:p>
        </p:txBody>
      </p:sp>
      <p:graphicFrame>
        <p:nvGraphicFramePr>
          <p:cNvPr id="6" name=""/>
          <p:cNvGraphicFramePr/>
          <p:nvPr/>
        </p:nvGraphicFramePr>
        <p:xfrm>
          <a:off xmlns:a="http://schemas.openxmlformats.org/drawingml/2006/main" x="609600" y="1476375"/>
          <a:ext xmlns:a="http://schemas.openxmlformats.org/drawingml/2006/main" cx="10972800" cy="4048125"/>
        </p:xfrm>
        <a:graphic xmlns:a="http://schemas.openxmlformats.org/drawingml/2006/main">
          <a:graphicData uri="http://schemas.openxmlformats.org/drawingml/2006/table">
            <a:tbl>
              <a:tblPr/>
              <a:tblGrid>
                <a:gridCol w="4476750"/>
                <a:gridCol w="6496050"/>
              </a:tblGrid>
              <a:tr h="506016">
                <a:tc>
                  <a:txBody>
                    <a:bodyPr>
                      <a:noAutofit/>
                    </a:bodyPr>
                    <a:lstStyle/>
                    <a:p>
                      <a:r>
                        <a:rPr sz="1800" b="1">
                          <a:solidFill>
                            <a:srgbClr val="FFFFFF"/>
                          </a:solidFill>
                          <a:latin typeface="Helvetica Neue"/>
                          <a:ea typeface="Helvetica Neue"/>
                          <a:cs typeface="Helvetica Neue"/>
                        </a:rPr>
                        <a:t>Data</a:t>
                      </a:r>
                    </a:p>
                  </a:txBody>
                  <a:tcPr marL="91440" marR="91440" marT="45720" marB="45720">
                    <a:solidFill>
                      <a:srgbClr val="173F4B"/>
                    </a:solidFill>
                  </a:tcPr>
                </a:tc>
                <a:tc>
                  <a:txBody>
                    <a:bodyPr>
                      <a:noAutofit/>
                    </a:bodyPr>
                    <a:lstStyle/>
                    <a:p>
                      <a:r>
                        <a:rPr sz="1800" b="1">
                          <a:solidFill>
                            <a:srgbClr val="FFFFFF"/>
                          </a:solidFill>
                          <a:latin typeface="Helvetica Neue"/>
                          <a:ea typeface="Helvetica Neue"/>
                          <a:cs typeface="Helvetica Neue"/>
                        </a:rPr>
                        <a:t>Proposed home</a:t>
                      </a:r>
                    </a:p>
                  </a:txBody>
                  <a:tcPr marL="91440" marR="91440" marT="45720" marB="45720">
                    <a:solidFill>
                      <a:srgbClr val="173F4B"/>
                    </a:solidFill>
                  </a:tcPr>
                </a:tc>
              </a:tr>
              <a:tr h="506016">
                <a:tc>
                  <a:txBody>
                    <a:bodyPr>
                      <a:noAutofit/>
                    </a:bodyPr>
                    <a:lstStyle/>
                    <a:p>
                      <a:r>
                        <a:rPr sz="1800" b="0">
                          <a:solidFill>
                            <a:srgbClr val="1B2B36"/>
                          </a:solidFill>
                          <a:latin typeface="Helvetica Neue"/>
                          <a:ea typeface="Helvetica Neue"/>
                          <a:cs typeface="Helvetica Neue"/>
                        </a:rPr>
                        <a:t>Samples and resampling plan</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SigmondData.data and sampling_info</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Ensemble and lattice context</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SigmondData.ensemble_info</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Physical meaning</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data.quantity</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This particular result</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data.estimate</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Stored name, index and component</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data.address</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Inputs and calculation settings</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data.provenance</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Array axes and cell labels</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data.dims, coords and dim_roles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FB1D9D7-FF6C-4A43-A0B6-513B3EDC8041}"/>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A quantity contains no sample values or ensemble identity.</a:t>
            </a:r>
          </a:p>
        </p:txBody>
      </p:sp>
      <p:sp>
        <p:nvSpPr>
          <p:cNvPr id="4" name="">
            <a:extLst xmlns:a="http://schemas.openxmlformats.org/drawingml/2006/main">
              <a:ext uri="{FF2B5EF4-FFF2-40B4-BE49-F238E27FC236}">
                <a16:creationId xmlns:a16="http://schemas.microsoft.com/office/drawing/2014/main" id="{6B39F3BC-E677-4149-9351-CDD7E81F2591}"/>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03</a:t>
            </a:r>
          </a:p>
        </p:txBody>
      </p:sp>
    </p:spTree>
    <p:extLst>
      <p:ext uri="{BB962C8B-B14F-4D97-AF65-F5344CB8AC3E}">
        <p14:creationId xmlns:p14="http://schemas.microsoft.com/office/powerpoint/2010/main" val="1006519374"/>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3A8DA3-4DDE-4E20-9D96-D4472B0AB80E}"/>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What happens to the subclasses</a:t>
            </a:r>
          </a:p>
        </p:txBody>
      </p:sp>
      <p:graphicFrame>
        <p:nvGraphicFramePr>
          <p:cNvPr id="6" name=""/>
          <p:cNvGraphicFramePr/>
          <p:nvPr/>
        </p:nvGraphicFramePr>
        <p:xfrm>
          <a:off xmlns:a="http://schemas.openxmlformats.org/drawingml/2006/main" x="609600" y="1476375"/>
          <a:ext xmlns:a="http://schemas.openxmlformats.org/drawingml/2006/main" cx="10972800" cy="4048125"/>
        </p:xfrm>
        <a:graphic xmlns:a="http://schemas.openxmlformats.org/drawingml/2006/main">
          <a:graphicData uri="http://schemas.openxmlformats.org/drawingml/2006/table">
            <a:tbl>
              <a:tblPr/>
              <a:tblGrid>
                <a:gridCol w="4476750"/>
                <a:gridCol w="6496050"/>
              </a:tblGrid>
              <a:tr h="506016">
                <a:tc>
                  <a:txBody>
                    <a:bodyPr>
                      <a:noAutofit/>
                    </a:bodyPr>
                    <a:lstStyle/>
                    <a:p>
                      <a:r>
                        <a:rPr sz="1800" b="1">
                          <a:solidFill>
                            <a:srgbClr val="FFFFFF"/>
                          </a:solidFill>
                          <a:latin typeface="Helvetica Neue"/>
                          <a:ea typeface="Helvetica Neue"/>
                          <a:cs typeface="Helvetica Neue"/>
                        </a:rPr>
                        <a:t>Familiar class</a:t>
                      </a:r>
                    </a:p>
                  </a:txBody>
                  <a:tcPr marL="91440" marR="91440" marT="45720" marB="45720">
                    <a:solidFill>
                      <a:srgbClr val="173F4B"/>
                    </a:solidFill>
                  </a:tcPr>
                </a:tc>
                <a:tc>
                  <a:txBody>
                    <a:bodyPr>
                      <a:noAutofit/>
                    </a:bodyPr>
                    <a:lstStyle/>
                    <a:p>
                      <a:r>
                        <a:rPr sz="1800" b="1">
                          <a:solidFill>
                            <a:srgbClr val="FFFFFF"/>
                          </a:solidFill>
                          <a:latin typeface="Helvetica Neue"/>
                          <a:ea typeface="Helvetica Neue"/>
                          <a:cs typeface="Helvetica Neue"/>
                        </a:rPr>
                        <a:t>Meaning in the proposed API</a:t>
                      </a:r>
                    </a:p>
                  </a:txBody>
                  <a:tcPr marL="91440" marR="91440" marT="45720" marB="45720">
                    <a:solidFill>
                      <a:srgbClr val="173F4B"/>
                    </a:solidFill>
                  </a:tcPr>
                </a:tc>
              </a:tr>
              <a:tr h="506016">
                <a:tc>
                  <a:txBody>
                    <a:bodyPr>
                      <a:noAutofit/>
                    </a:bodyPr>
                    <a:lstStyle/>
                    <a:p>
                      <a:r>
                        <a:rPr sz="1800" b="0">
                          <a:solidFill>
                            <a:srgbClr val="1B2B36"/>
                          </a:solidFill>
                          <a:latin typeface="Helvetica Neue"/>
                          <a:ea typeface="Helvetica Neue"/>
                          <a:cs typeface="Helvetica Neue"/>
                        </a:rPr>
                        <a:t>EnergyObsInfo</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Energy key</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SHEnergyObsInfo</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Energy with a single-hadron descriptor</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CorrelatorObsInfo</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Correlator, possibly evaluated at time t</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EffectiveEnergyObsInfo</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EffectiveEnergy of a source correlator</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VEVObsInfo</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VEV of an operator</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OverlapObsInfo</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Overlap with operator and bound pivot mode</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ArrayObsInfo</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Array layout plus quantities for its cells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C04533E-DA51-4772-AF0D-178E018E668B}"/>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Old classes remain as adapters while the new API takes over.</a:t>
            </a:r>
          </a:p>
        </p:txBody>
      </p:sp>
      <p:sp>
        <p:nvSpPr>
          <p:cNvPr id="4" name="">
            <a:extLst xmlns:a="http://schemas.openxmlformats.org/drawingml/2006/main">
              <a:ext uri="{FF2B5EF4-FFF2-40B4-BE49-F238E27FC236}">
                <a16:creationId xmlns:a16="http://schemas.microsoft.com/office/drawing/2014/main" id="{96F3B864-2E57-4A4B-BFB7-F38F4C083861}"/>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04</a:t>
            </a:r>
          </a:p>
        </p:txBody>
      </p:sp>
    </p:spTree>
    <p:extLst>
      <p:ext uri="{BB962C8B-B14F-4D97-AF65-F5344CB8AC3E}">
        <p14:creationId xmlns:p14="http://schemas.microsoft.com/office/powerpoint/2010/main" val="60125651"/>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419BFD-78E8-40B7-A197-D7822A4EE37C}"/>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An energy and its metadata</a:t>
            </a:r>
          </a:p>
        </p:txBody>
      </p:sp>
      <p:graphicFrame>
        <p:nvGraphicFramePr>
          <p:cNvPr id="6" name=""/>
          <p:cNvGraphicFramePr/>
          <p:nvPr/>
        </p:nvGraphicFramePr>
        <p:xfrm>
          <a:off xmlns:a="http://schemas.openxmlformats.org/drawingml/2006/main" x="609600" y="1476375"/>
          <a:ext xmlns:a="http://schemas.openxmlformats.org/drawingml/2006/main" cx="10972800" cy="4048125"/>
        </p:xfrm>
        <a:graphic xmlns:a="http://schemas.openxmlformats.org/drawingml/2006/main">
          <a:graphicData uri="http://schemas.openxmlformats.org/drawingml/2006/table">
            <a:tbl>
              <a:tblPr/>
              <a:tblGrid>
                <a:gridCol w="4476750"/>
                <a:gridCol w="6496050"/>
              </a:tblGrid>
              <a:tr h="506016">
                <a:tc>
                  <a:txBody>
                    <a:bodyPr>
                      <a:noAutofit/>
                    </a:bodyPr>
                    <a:lstStyle/>
                    <a:p>
                      <a:r>
                        <a:rPr sz="1800" b="1">
                          <a:solidFill>
                            <a:srgbClr val="FFFFFF"/>
                          </a:solidFill>
                          <a:latin typeface="Helvetica Neue"/>
                          <a:ea typeface="Helvetica Neue"/>
                          <a:cs typeface="Helvetica Neue"/>
                        </a:rPr>
                        <a:t>Energy-related data</a:t>
                      </a:r>
                    </a:p>
                  </a:txBody>
                  <a:tcPr marL="91440" marR="91440" marT="45720" marB="45720">
                    <a:solidFill>
                      <a:srgbClr val="173F4B"/>
                    </a:solidFill>
                  </a:tcPr>
                </a:tc>
                <a:tc>
                  <a:txBody>
                    <a:bodyPr>
                      <a:noAutofit/>
                    </a:bodyPr>
                    <a:lstStyle/>
                    <a:p>
                      <a:r>
                        <a:rPr sz="1800" b="1">
                          <a:solidFill>
                            <a:srgbClr val="FFFFFF"/>
                          </a:solidFill>
                          <a:latin typeface="Helvetica Neue"/>
                          <a:ea typeface="Helvetica Neue"/>
                          <a:cs typeface="Helvetica Neue"/>
                        </a:rPr>
                        <a:t>New home</a:t>
                      </a:r>
                    </a:p>
                  </a:txBody>
                  <a:tcPr marL="91440" marR="91440" marT="45720" marB="45720">
                    <a:solidFill>
                      <a:srgbClr val="173F4B"/>
                    </a:solidFill>
                  </a:tcPr>
                </a:tc>
              </a:tr>
              <a:tr h="506016">
                <a:tc>
                  <a:txBody>
                    <a:bodyPr>
                      <a:noAutofit/>
                    </a:bodyPr>
                    <a:lstStyle/>
                    <a:p>
                      <a:r>
                        <a:rPr sz="1800" b="0">
                          <a:solidFill>
                            <a:srgbClr val="1B2B36"/>
                          </a:solidFill>
                          <a:latin typeface="Helvetica Neue"/>
                          <a:ea typeface="Helvetica Neue"/>
                          <a:cs typeface="Helvetica Neue"/>
                        </a:rPr>
                        <a:t>irrep and psq</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Energy.channel</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level_index</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Energy.state: an assigned LevelKey</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energy_type="elab" or "ecm"</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Energy.frame</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name and index</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Address</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ensemble_info</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Data container</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Fit window and model settings</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Provenance</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One fit output</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Estimate reference</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B32CF33-3211-4778-B1D3-61CC5533930D}"/>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Two fit windows can produce the same Energy key.</a:t>
            </a:r>
          </a:p>
        </p:txBody>
      </p:sp>
      <p:sp>
        <p:nvSpPr>
          <p:cNvPr id="4" name="">
            <a:extLst xmlns:a="http://schemas.openxmlformats.org/drawingml/2006/main">
              <a:ext uri="{FF2B5EF4-FFF2-40B4-BE49-F238E27FC236}">
                <a16:creationId xmlns:a16="http://schemas.microsoft.com/office/drawing/2014/main" id="{65719EFE-F1C8-4BC9-B09F-5A648844B7DD}"/>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05</a:t>
            </a:r>
          </a:p>
        </p:txBody>
      </p:sp>
    </p:spTree>
    <p:extLst>
      <p:ext uri="{BB962C8B-B14F-4D97-AF65-F5344CB8AC3E}">
        <p14:creationId xmlns:p14="http://schemas.microsoft.com/office/powerpoint/2010/main" val="730561063"/>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7D7B67-C3C3-4BB4-8CFA-5B4B8FC00D24}"/>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Single hadrons, shifts and ratios</a:t>
            </a:r>
          </a:p>
        </p:txBody>
      </p:sp>
      <p:sp>
        <p:nvSpPr>
          <p:cNvPr id="2" name="">
            <a:extLst xmlns:a="http://schemas.openxmlformats.org/drawingml/2006/main">
              <a:ext uri="{FF2B5EF4-FFF2-40B4-BE49-F238E27FC236}">
                <a16:creationId xmlns:a16="http://schemas.microsoft.com/office/drawing/2014/main" id="{336DFE26-EB1E-440C-8685-12A188CF262E}"/>
              </a:ext>
            </a:extLst>
          </p:cNvPr>
          <p:cNvSpPr>
            <a:spLocks xmlns:a="http://schemas.openxmlformats.org/drawingml/2006/main" noGrp="1"/>
          </p:cNvSpPr>
          <p:nvPr/>
        </p:nvSpPr>
        <p:spPr>
          <a:xfrm xmlns:a="http://schemas.openxmlformats.org/drawingml/2006/main">
            <a:off x="704850" y="1581150"/>
            <a:ext cx="107823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Single hadron energy</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The key records the measured hadron and its momentum.</a:t>
            </a:r>
          </a:p>
          <a:p xmlns:a="http://schemas.openxmlformats.org/drawingml/2006/main">
            <a:r>
              <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Energy shift</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The key names the noninteracting reference being subtracted.</a:t>
            </a:r>
          </a:p>
          <a:p xmlns:a="http://schemas.openxmlformats.org/drawingml/2006/main">
            <a:r>
              <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E / m_pi</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The key records normalization by the pion mass.</a:t>
            </a:r>
          </a:p>
        </p:txBody>
      </p:sp>
      <p:sp>
        <p:nvSpPr>
          <p:cNvPr id="3" name="">
            <a:extLst xmlns:a="http://schemas.openxmlformats.org/drawingml/2006/main">
              <a:ext uri="{FF2B5EF4-FFF2-40B4-BE49-F238E27FC236}">
                <a16:creationId xmlns:a16="http://schemas.microsoft.com/office/drawing/2014/main" id="{F5A0D2FC-4069-4372-908C-A2B75FB1796A}"/>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Provenance identifies the reference samples used in the calculation.</a:t>
            </a:r>
          </a:p>
        </p:txBody>
      </p:sp>
      <p:sp>
        <p:nvSpPr>
          <p:cNvPr id="4" name="">
            <a:extLst xmlns:a="http://schemas.openxmlformats.org/drawingml/2006/main">
              <a:ext uri="{FF2B5EF4-FFF2-40B4-BE49-F238E27FC236}">
                <a16:creationId xmlns:a16="http://schemas.microsoft.com/office/drawing/2014/main" id="{A88768ED-53BE-49F7-9C98-5DC5E22B8B76}"/>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06</a:t>
            </a:r>
          </a:p>
        </p:txBody>
      </p:sp>
    </p:spTree>
    <p:extLst>
      <p:ext uri="{BB962C8B-B14F-4D97-AF65-F5344CB8AC3E}">
        <p14:creationId xmlns:p14="http://schemas.microsoft.com/office/powerpoint/2010/main" val="783030797"/>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AAE4F0-0E17-4FEC-A59F-7825DFC12289}"/>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A correlator matrix</a:t>
            </a:r>
          </a:p>
        </p:txBody>
      </p:sp>
      <p:graphicFrame>
        <p:nvGraphicFramePr>
          <p:cNvPr id="6" name=""/>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4476750"/>
                <a:gridCol w="6496050"/>
              </a:tblGrid>
              <a:tr h="530679">
                <a:tc>
                  <a:txBody>
                    <a:bodyPr>
                      <a:noAutofit/>
                    </a:bodyPr>
                    <a:lstStyle/>
                    <a:p>
                      <a:r>
                        <a:rPr sz="1950" b="1">
                          <a:solidFill>
                            <a:srgbClr val="FFFFFF"/>
                          </a:solidFill>
                          <a:latin typeface="Helvetica Neue"/>
                          <a:ea typeface="Helvetica Neue"/>
                          <a:cs typeface="Helvetica Neue"/>
                        </a:rPr>
                        <a:t>Needed data</a:t>
                      </a:r>
                    </a:p>
                  </a:txBody>
                  <a:tcPr marL="91440" marR="91440" marT="45720" marB="45720">
                    <a:solidFill>
                      <a:srgbClr val="173F4B"/>
                    </a:solidFill>
                  </a:tcPr>
                </a:tc>
                <a:tc>
                  <a:txBody>
                    <a:bodyPr>
                      <a:noAutofit/>
                    </a:bodyPr>
                    <a:lstStyle/>
                    <a:p>
                      <a:r>
                        <a:rPr sz="1950" b="1">
                          <a:solidFill>
                            <a:srgbClr val="FFFFFF"/>
                          </a:solidFill>
                          <a:latin typeface="Helvetica Neue"/>
                          <a:ea typeface="Helvetica Neue"/>
                          <a:cs typeface="Helvetica Neue"/>
                        </a:rPr>
                        <a:t>Where it lives</a:t>
                      </a:r>
                    </a:p>
                  </a:txBody>
                  <a:tcPr marL="91440" marR="91440" marT="45720" marB="45720">
                    <a:solidFill>
                      <a:srgbClr val="173F4B"/>
                    </a:solidFill>
                  </a:tcPr>
                </a:tc>
              </a:tr>
              <a:tr h="530679">
                <a:tc>
                  <a:txBody>
                    <a:bodyPr>
                      <a:noAutofit/>
                    </a:bodyPr>
                    <a:lstStyle/>
                    <a:p>
                      <a:r>
                        <a:rPr sz="1950" b="0">
                          <a:solidFill>
                            <a:srgbClr val="1B2B36"/>
                          </a:solidFill>
                          <a:latin typeface="Helvetica Neue"/>
                          <a:ea typeface="Helvetica Neue"/>
                          <a:cs typeface="Helvetica Neue"/>
                        </a:rPr>
                        <a:t>Sink and source operators</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Correlator quantity</a:t>
                      </a:r>
                    </a:p>
                  </a:txBody>
                  <a:tcPr marL="91440" marR="91440" marT="45720" marB="45720">
                    <a:solidFill>
                      <a:srgbClr val="FFFFFF"/>
                    </a:solidFill>
                  </a:tcPr>
                </a:tc>
              </a:tr>
              <a:tr h="530679">
                <a:tc>
                  <a:txBody>
                    <a:bodyPr>
                      <a:noAutofit/>
                    </a:bodyPr>
                    <a:lstStyle/>
                    <a:p>
                      <a:r>
                        <a:rPr sz="1950" b="0">
                          <a:solidFill>
                            <a:srgbClr val="1B2B36"/>
                          </a:solidFill>
                          <a:latin typeface="Helvetica Neue"/>
                          <a:ea typeface="Helvetica Neue"/>
                          <a:cs typeface="Helvetica Neue"/>
                        </a:rPr>
                        <a:t>Connected or unsubtracted meaning</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Correlator quantity</a:t>
                      </a:r>
                    </a:p>
                  </a:txBody>
                  <a:tcPr marL="91440" marR="91440" marT="45720" marB="45720">
                    <a:solidFill>
                      <a:srgbClr val="EEF2EE"/>
                    </a:solidFill>
                  </a:tcPr>
                </a:tc>
              </a:tr>
              <a:tr h="530679">
                <a:tc>
                  <a:txBody>
                    <a:bodyPr>
                      <a:noAutofit/>
                    </a:bodyPr>
                    <a:lstStyle/>
                    <a:p>
                      <a:r>
                        <a:rPr sz="1950" b="0">
                          <a:solidFill>
                            <a:srgbClr val="1B2B36"/>
                          </a:solidFill>
                          <a:latin typeface="Helvetica Neue"/>
                          <a:ea typeface="Helvetica Neue"/>
                          <a:cs typeface="Helvetica Neue"/>
                        </a:rPr>
                        <a:t>Source times</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Time coordinate</a:t>
                      </a:r>
                    </a:p>
                  </a:txBody>
                  <a:tcPr marL="91440" marR="91440" marT="45720" marB="45720">
                    <a:solidFill>
                      <a:srgbClr val="FFFFFF"/>
                    </a:solidFill>
                  </a:tcPr>
                </a:tc>
              </a:tr>
              <a:tr h="530679">
                <a:tc>
                  <a:txBody>
                    <a:bodyPr>
                      <a:noAutofit/>
                    </a:bodyPr>
                    <a:lstStyle/>
                    <a:p>
                      <a:r>
                        <a:rPr sz="1950" b="0">
                          <a:solidFill>
                            <a:srgbClr val="1B2B36"/>
                          </a:solidFill>
                          <a:latin typeface="Helvetica Neue"/>
                          <a:ea typeface="Helvetica Neue"/>
                          <a:cs typeface="Helvetica Neue"/>
                        </a:rPr>
                        <a:t>Matrix positions</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sink and source coordinates</a:t>
                      </a:r>
                    </a:p>
                  </a:txBody>
                  <a:tcPr marL="91440" marR="91440" marT="45720" marB="45720">
                    <a:solidFill>
                      <a:srgbClr val="EEF2EE"/>
                    </a:solidFill>
                  </a:tcPr>
                </a:tc>
              </a:tr>
              <a:tr h="530679">
                <a:tc>
                  <a:txBody>
                    <a:bodyPr>
                      <a:noAutofit/>
                    </a:bodyPr>
                    <a:lstStyle/>
                    <a:p>
                      <a:r>
                        <a:rPr sz="1950" b="0">
                          <a:solidFill>
                            <a:srgbClr val="1B2B36"/>
                          </a:solidFill>
                          <a:latin typeface="Helvetica Neue"/>
                          <a:ea typeface="Helvetica Neue"/>
                          <a:cs typeface="Helvetica Neue"/>
                        </a:rPr>
                        <a:t>Samples at each (t, i, j)</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Data buffer</a:t>
                      </a:r>
                    </a:p>
                  </a:txBody>
                  <a:tcPr marL="91440" marR="91440" marT="45720" marB="45720">
                    <a:solidFill>
                      <a:srgbClr val="FFFFFF"/>
                    </a:solidFill>
                  </a:tcPr>
                </a:tc>
              </a:tr>
              <a:tr h="530679">
                <a:tc>
                  <a:txBody>
                    <a:bodyPr>
                      <a:noAutofit/>
                    </a:bodyPr>
                    <a:lstStyle/>
                    <a:p>
                      <a:r>
                        <a:rPr sz="1950" b="0">
                          <a:solidFill>
                            <a:srgbClr val="1B2B36"/>
                          </a:solidFill>
                          <a:latin typeface="Helvetica Neue"/>
                          <a:ea typeface="Helvetica Neue"/>
                          <a:cs typeface="Helvetica Neue"/>
                        </a:rPr>
                        <a:t>Rotation coefficients and source basis</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Pivot artifact and provenance</a:t>
                      </a:r>
                    </a:p>
                  </a:txBody>
                  <a:tcPr marL="91440" marR="91440" marT="45720" marB="45720">
                    <a:solidFill>
                      <a:srgbClr val="EEF2EE"/>
                    </a:solidFill>
                  </a:tcPr>
                </a:tc>
              </a:tr>
            </a:tbl>
          </a:graphicData>
        </a:graphic>
      </p:graphicFrame>
      <p:sp>
        <p:nvSpPr>
          <p:cNvPr id="3" name="">
            <a:extLst xmlns:a="http://schemas.openxmlformats.org/drawingml/2006/main">
              <a:ext uri="{FF2B5EF4-FFF2-40B4-BE49-F238E27FC236}">
                <a16:creationId xmlns:a16="http://schemas.microsoft.com/office/drawing/2014/main" id="{257650AF-300A-4C5D-854A-8BB4A30D3A4D}"/>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Coordinates identify each cell. A template builds its quantity.</a:t>
            </a:r>
          </a:p>
        </p:txBody>
      </p:sp>
      <p:sp>
        <p:nvSpPr>
          <p:cNvPr id="4" name="">
            <a:extLst xmlns:a="http://schemas.openxmlformats.org/drawingml/2006/main">
              <a:ext uri="{FF2B5EF4-FFF2-40B4-BE49-F238E27FC236}">
                <a16:creationId xmlns:a16="http://schemas.microsoft.com/office/drawing/2014/main" id="{0AEBAEC0-A88B-4EA7-92C7-CD97983CB5BA}"/>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07</a:t>
            </a:r>
          </a:p>
        </p:txBody>
      </p:sp>
    </p:spTree>
    <p:extLst>
      <p:ext uri="{BB962C8B-B14F-4D97-AF65-F5344CB8AC3E}">
        <p14:creationId xmlns:p14="http://schemas.microsoft.com/office/powerpoint/2010/main" val="317233967"/>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6E52BF-C903-42AF-A892-5BBCD8EA959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An effective energy</a:t>
            </a:r>
          </a:p>
        </p:txBody>
      </p:sp>
      <p:graphicFrame>
        <p:nvGraphicFramePr>
          <p:cNvPr id="6" name=""/>
          <p:cNvGraphicFramePr/>
          <p:nvPr/>
        </p:nvGraphicFramePr>
        <p:xfrm>
          <a:off xmlns:a="http://schemas.openxmlformats.org/drawingml/2006/main" x="609600" y="1476375"/>
          <a:ext xmlns:a="http://schemas.openxmlformats.org/drawingml/2006/main" cx="10972800" cy="4048125"/>
        </p:xfrm>
        <a:graphic xmlns:a="http://schemas.openxmlformats.org/drawingml/2006/main">
          <a:graphicData uri="http://schemas.openxmlformats.org/drawingml/2006/table">
            <a:tbl>
              <a:tblPr/>
              <a:tblGrid>
                <a:gridCol w="4476750"/>
                <a:gridCol w="6496050"/>
              </a:tblGrid>
              <a:tr h="506016">
                <a:tc>
                  <a:txBody>
                    <a:bodyPr>
                      <a:noAutofit/>
                    </a:bodyPr>
                    <a:lstStyle/>
                    <a:p>
                      <a:r>
                        <a:rPr sz="1800" b="1">
                          <a:solidFill>
                            <a:srgbClr val="FFFFFF"/>
                          </a:solidFill>
                          <a:latin typeface="Helvetica Neue"/>
                          <a:ea typeface="Helvetica Neue"/>
                          <a:cs typeface="Helvetica Neue"/>
                        </a:rPr>
                        <a:t>Needed data</a:t>
                      </a:r>
                    </a:p>
                  </a:txBody>
                  <a:tcPr marL="91440" marR="91440" marT="45720" marB="45720">
                    <a:solidFill>
                      <a:srgbClr val="173F4B"/>
                    </a:solidFill>
                  </a:tcPr>
                </a:tc>
                <a:tc>
                  <a:txBody>
                    <a:bodyPr>
                      <a:noAutofit/>
                    </a:bodyPr>
                    <a:lstStyle/>
                    <a:p>
                      <a:r>
                        <a:rPr sz="1800" b="1">
                          <a:solidFill>
                            <a:srgbClr val="FFFFFF"/>
                          </a:solidFill>
                          <a:latin typeface="Helvetica Neue"/>
                          <a:ea typeface="Helvetica Neue"/>
                          <a:cs typeface="Helvetica Neue"/>
                        </a:rPr>
                        <a:t>Where it lives</a:t>
                      </a:r>
                    </a:p>
                  </a:txBody>
                  <a:tcPr marL="91440" marR="91440" marT="45720" marB="45720">
                    <a:solidFill>
                      <a:srgbClr val="173F4B"/>
                    </a:solidFill>
                  </a:tcPr>
                </a:tc>
              </a:tr>
              <a:tr h="506016">
                <a:tc>
                  <a:txBody>
                    <a:bodyPr>
                      <a:noAutofit/>
                    </a:bodyPr>
                    <a:lstStyle/>
                    <a:p>
                      <a:r>
                        <a:rPr sz="1800" b="0">
                          <a:solidFill>
                            <a:srgbClr val="1B2B36"/>
                          </a:solidFill>
                          <a:latin typeface="Helvetica Neue"/>
                          <a:ea typeface="Helvetica Neue"/>
                          <a:cs typeface="Helvetica Neue"/>
                        </a:rPr>
                        <a:t>Source correlator</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EffectiveEnergy.of</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Kind and time step</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EffectiveEnergy key</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Constant subtraction and temporal model</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Quantity context and provenance</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Input samples</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Referenced input estimates</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Output samples</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New data buffer</a:t>
                      </a:r>
                    </a:p>
                  </a:txBody>
                  <a:tcPr marL="91440" marR="91440" marT="45720" marB="45720">
                    <a:solidFill>
                      <a:srgbClr val="FFFFFF"/>
                    </a:solidFill>
                  </a:tcPr>
                </a:tc>
              </a:tr>
              <a:tr h="506016">
                <a:tc>
                  <a:txBody>
                    <a:bodyPr>
                      <a:noAutofit/>
                    </a:bodyPr>
                    <a:lstStyle/>
                    <a:p>
                      <a:r>
                        <a:rPr sz="1800" b="0">
                          <a:solidFill>
                            <a:srgbClr val="1B2B36"/>
                          </a:solidFill>
                          <a:latin typeface="Helvetica Neue"/>
                          <a:ea typeface="Helvetica Neue"/>
                          <a:cs typeface="Helvetica Neue"/>
                        </a:rPr>
                        <a:t>Source time t</a:t>
                      </a:r>
                    </a:p>
                  </a:txBody>
                  <a:tcPr marL="91440" marR="91440" marT="45720" marB="45720">
                    <a:solidFill>
                      <a:srgbClr val="EEF2EE"/>
                    </a:solidFill>
                  </a:tcPr>
                </a:tc>
                <a:tc>
                  <a:txBody>
                    <a:bodyPr>
                      <a:noAutofit/>
                    </a:bodyPr>
                    <a:lstStyle/>
                    <a:p>
                      <a:r>
                        <a:rPr sz="1800" b="0">
                          <a:solidFill>
                            <a:srgbClr val="1B2B36"/>
                          </a:solidFill>
                          <a:latin typeface="Helvetica Neue"/>
                          <a:ea typeface="Helvetica Neue"/>
                          <a:cs typeface="Helvetica Neue"/>
                        </a:rPr>
                        <a:t>Time coordinate</a:t>
                      </a:r>
                    </a:p>
                  </a:txBody>
                  <a:tcPr marL="91440" marR="91440" marT="45720" marB="45720">
                    <a:solidFill>
                      <a:srgbClr val="EEF2EE"/>
                    </a:solidFill>
                  </a:tcPr>
                </a:tc>
              </a:tr>
              <a:tr h="506016">
                <a:tc>
                  <a:txBody>
                    <a:bodyPr>
                      <a:noAutofit/>
                    </a:bodyPr>
                    <a:lstStyle/>
                    <a:p>
                      <a:r>
                        <a:rPr sz="1800" b="0">
                          <a:solidFill>
                            <a:srgbClr val="1B2B36"/>
                          </a:solidFill>
                          <a:latin typeface="Helvetica Neue"/>
                          <a:ea typeface="Helvetica Neue"/>
                          <a:cs typeface="Helvetica Neue"/>
                        </a:rPr>
                        <a:t>Plotting offset, such as 0.5</a:t>
                      </a:r>
                    </a:p>
                  </a:txBody>
                  <a:tcPr marL="91440" marR="91440" marT="45720" marB="45720">
                    <a:solidFill>
                      <a:srgbClr val="FFFFFF"/>
                    </a:solidFill>
                  </a:tcPr>
                </a:tc>
                <a:tc>
                  <a:txBody>
                    <a:bodyPr>
                      <a:noAutofit/>
                    </a:bodyPr>
                    <a:lstStyle/>
                    <a:p>
                      <a:r>
                        <a:rPr sz="1800" b="0">
                          <a:solidFill>
                            <a:srgbClr val="1B2B36"/>
                          </a:solidFill>
                          <a:latin typeface="Helvetica Neue"/>
                          <a:ea typeface="Helvetica Neue"/>
                          <a:cs typeface="Helvetica Neue"/>
                        </a:rPr>
                        <a:t>TimeAxis, derived from the convention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695420B-637F-4593-B7B6-B41CC8594BB0}"/>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Its energy target comes from the source correlator.</a:t>
            </a:r>
          </a:p>
        </p:txBody>
      </p:sp>
      <p:sp>
        <p:nvSpPr>
          <p:cNvPr id="4" name="">
            <a:extLst xmlns:a="http://schemas.openxmlformats.org/drawingml/2006/main">
              <a:ext uri="{FF2B5EF4-FFF2-40B4-BE49-F238E27FC236}">
                <a16:creationId xmlns:a16="http://schemas.microsoft.com/office/drawing/2014/main" id="{75538E6A-DD31-427C-9CE0-8AEAABE04B87}"/>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08</a:t>
            </a:r>
          </a:p>
        </p:txBody>
      </p:sp>
    </p:spTree>
    <p:extLst>
      <p:ext uri="{BB962C8B-B14F-4D97-AF65-F5344CB8AC3E}">
        <p14:creationId xmlns:p14="http://schemas.microsoft.com/office/powerpoint/2010/main" val="1035669763"/>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14C278-3B47-4EC9-98E1-75484EE66F2F}"/>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A vacuum expectation value</a:t>
            </a:r>
          </a:p>
        </p:txBody>
      </p:sp>
      <p:graphicFrame>
        <p:nvGraphicFramePr>
          <p:cNvPr id="6" name=""/>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4476750"/>
                <a:gridCol w="6496050"/>
              </a:tblGrid>
              <a:tr h="619125">
                <a:tc>
                  <a:txBody>
                    <a:bodyPr>
                      <a:noAutofit/>
                    </a:bodyPr>
                    <a:lstStyle/>
                    <a:p>
                      <a:r>
                        <a:rPr sz="1950" b="1">
                          <a:solidFill>
                            <a:srgbClr val="FFFFFF"/>
                          </a:solidFill>
                          <a:latin typeface="Helvetica Neue"/>
                          <a:ea typeface="Helvetica Neue"/>
                          <a:cs typeface="Helvetica Neue"/>
                        </a:rPr>
                        <a:t>Needed data</a:t>
                      </a:r>
                    </a:p>
                  </a:txBody>
                  <a:tcPr marL="91440" marR="91440" marT="45720" marB="45720">
                    <a:solidFill>
                      <a:srgbClr val="173F4B"/>
                    </a:solidFill>
                  </a:tcPr>
                </a:tc>
                <a:tc>
                  <a:txBody>
                    <a:bodyPr>
                      <a:noAutofit/>
                    </a:bodyPr>
                    <a:lstStyle/>
                    <a:p>
                      <a:r>
                        <a:rPr sz="1950" b="1">
                          <a:solidFill>
                            <a:srgbClr val="FFFFFF"/>
                          </a:solidFill>
                          <a:latin typeface="Helvetica Neue"/>
                          <a:ea typeface="Helvetica Neue"/>
                          <a:cs typeface="Helvetica Neue"/>
                        </a:rPr>
                        <a:t>Where it lives</a:t>
                      </a:r>
                    </a:p>
                  </a:txBody>
                  <a:tcPr marL="91440" marR="91440" marT="45720" marB="45720">
                    <a:solidFill>
                      <a:srgbClr val="173F4B"/>
                    </a:solidFill>
                  </a:tcPr>
                </a:tc>
              </a:tr>
              <a:tr h="619125">
                <a:tc>
                  <a:txBody>
                    <a:bodyPr>
                      <a:noAutofit/>
                    </a:bodyPr>
                    <a:lstStyle/>
                    <a:p>
                      <a:r>
                        <a:rPr sz="1950" b="0">
                          <a:solidFill>
                            <a:srgbClr val="1B2B36"/>
                          </a:solidFill>
                          <a:latin typeface="Helvetica Neue"/>
                          <a:ea typeface="Helvetica Neue"/>
                          <a:cs typeface="Helvetica Neue"/>
                        </a:rPr>
                        <a:t>Operator O_i</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VEV quantity</a:t>
                      </a:r>
                    </a:p>
                  </a:txBody>
                  <a:tcPr marL="91440" marR="91440" marT="45720" marB="45720">
                    <a:solidFill>
                      <a:srgbClr val="FFFFFF"/>
                    </a:solidFill>
                  </a:tcPr>
                </a:tc>
              </a:tr>
              <a:tr h="619125">
                <a:tc>
                  <a:txBody>
                    <a:bodyPr>
                      <a:noAutofit/>
                    </a:bodyPr>
                    <a:lstStyle/>
                    <a:p>
                      <a:r>
                        <a:rPr sz="1950" b="0">
                          <a:solidFill>
                            <a:srgbClr val="1B2B36"/>
                          </a:solidFill>
                          <a:latin typeface="Helvetica Neue"/>
                          <a:ea typeface="Helvetica Neue"/>
                          <a:cs typeface="Helvetica Neue"/>
                        </a:rPr>
                        <a:t>VEV samples</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Data buffer</a:t>
                      </a:r>
                    </a:p>
                  </a:txBody>
                  <a:tcPr marL="91440" marR="91440" marT="45720" marB="45720">
                    <a:solidFill>
                      <a:srgbClr val="EEF2EE"/>
                    </a:solidFill>
                  </a:tcPr>
                </a:tc>
              </a:tr>
              <a:tr h="619125">
                <a:tc>
                  <a:txBody>
                    <a:bodyPr>
                      <a:noAutofit/>
                    </a:bodyPr>
                    <a:lstStyle/>
                    <a:p>
                      <a:r>
                        <a:rPr sz="1950" b="0">
                          <a:solidFill>
                            <a:srgbClr val="1B2B36"/>
                          </a:solidFill>
                          <a:latin typeface="Helvetica Neue"/>
                          <a:ea typeface="Helvetica Neue"/>
                          <a:cs typeface="Helvetica Neue"/>
                        </a:rPr>
                        <a:t>Ensemble and resampling plan</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Data container</a:t>
                      </a:r>
                    </a:p>
                  </a:txBody>
                  <a:tcPr marL="91440" marR="91440" marT="45720" marB="45720">
                    <a:solidFill>
                      <a:srgbClr val="FFFFFF"/>
                    </a:solidFill>
                  </a:tcPr>
                </a:tc>
              </a:tr>
              <a:tr h="619125">
                <a:tc>
                  <a:txBody>
                    <a:bodyPr>
                      <a:noAutofit/>
                    </a:bodyPr>
                    <a:lstStyle/>
                    <a:p>
                      <a:r>
                        <a:rPr sz="1950" b="0">
                          <a:solidFill>
                            <a:srgbClr val="1B2B36"/>
                          </a:solidFill>
                          <a:latin typeface="Helvetica Neue"/>
                          <a:ea typeface="Helvetica Neue"/>
                          <a:cs typeface="Helvetica Neue"/>
                        </a:rPr>
                        <a:t>Operator grid for several VEVs</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Operator coordinate</a:t>
                      </a:r>
                    </a:p>
                  </a:txBody>
                  <a:tcPr marL="91440" marR="91440" marT="45720" marB="45720">
                    <a:solidFill>
                      <a:srgbClr val="EEF2EE"/>
                    </a:solidFill>
                  </a:tcPr>
                </a:tc>
              </a:tr>
              <a:tr h="619125">
                <a:tc>
                  <a:txBody>
                    <a:bodyPr>
                      <a:noAutofit/>
                    </a:bodyPr>
                    <a:lstStyle/>
                    <a:p>
                      <a:r>
                        <a:rPr sz="1950" b="0">
                          <a:solidFill>
                            <a:srgbClr val="1B2B36"/>
                          </a:solidFill>
                          <a:latin typeface="Helvetica Neue"/>
                          <a:ea typeface="Helvetica Neue"/>
                          <a:cs typeface="Helvetica Neue"/>
                        </a:rPr>
                        <a:t>Stored real or imaginary component</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Address and Component key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A0A3100-D197-483F-AC17-54DE1C9CD20A}"/>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The operator identifies the quantity. Samples belong to the data.</a:t>
            </a:r>
          </a:p>
        </p:txBody>
      </p:sp>
      <p:sp>
        <p:nvSpPr>
          <p:cNvPr id="4" name="">
            <a:extLst xmlns:a="http://schemas.openxmlformats.org/drawingml/2006/main">
              <a:ext uri="{FF2B5EF4-FFF2-40B4-BE49-F238E27FC236}">
                <a16:creationId xmlns:a16="http://schemas.microsoft.com/office/drawing/2014/main" id="{4B75C90F-BC73-4E95-94FF-36085C75FD6F}"/>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09</a:t>
            </a:r>
          </a:p>
        </p:txBody>
      </p:sp>
    </p:spTree>
    <p:extLst>
      <p:ext uri="{BB962C8B-B14F-4D97-AF65-F5344CB8AC3E}">
        <p14:creationId xmlns:p14="http://schemas.microsoft.com/office/powerpoint/2010/main" val="1870260863"/>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028E30-5F62-42D3-A33C-2F9CED81C00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An overlap</a:t>
            </a:r>
          </a:p>
        </p:txBody>
      </p:sp>
      <p:graphicFrame>
        <p:nvGraphicFramePr>
          <p:cNvPr id="6" name=""/>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4476750"/>
                <a:gridCol w="6496050"/>
              </a:tblGrid>
              <a:tr h="530679">
                <a:tc>
                  <a:txBody>
                    <a:bodyPr>
                      <a:noAutofit/>
                    </a:bodyPr>
                    <a:lstStyle/>
                    <a:p>
                      <a:r>
                        <a:rPr sz="1950" b="1">
                          <a:solidFill>
                            <a:srgbClr val="FFFFFF"/>
                          </a:solidFill>
                          <a:latin typeface="Helvetica Neue"/>
                          <a:ea typeface="Helvetica Neue"/>
                          <a:cs typeface="Helvetica Neue"/>
                        </a:rPr>
                        <a:t>Needed data</a:t>
                      </a:r>
                    </a:p>
                  </a:txBody>
                  <a:tcPr marL="91440" marR="91440" marT="45720" marB="45720">
                    <a:solidFill>
                      <a:srgbClr val="173F4B"/>
                    </a:solidFill>
                  </a:tcPr>
                </a:tc>
                <a:tc>
                  <a:txBody>
                    <a:bodyPr>
                      <a:noAutofit/>
                    </a:bodyPr>
                    <a:lstStyle/>
                    <a:p>
                      <a:r>
                        <a:rPr sz="1950" b="1">
                          <a:solidFill>
                            <a:srgbClr val="FFFFFF"/>
                          </a:solidFill>
                          <a:latin typeface="Helvetica Neue"/>
                          <a:ea typeface="Helvetica Neue"/>
                          <a:cs typeface="Helvetica Neue"/>
                        </a:rPr>
                        <a:t>Where it lives</a:t>
                      </a:r>
                    </a:p>
                  </a:txBody>
                  <a:tcPr marL="91440" marR="91440" marT="45720" marB="45720">
                    <a:solidFill>
                      <a:srgbClr val="173F4B"/>
                    </a:solidFill>
                  </a:tcPr>
                </a:tc>
              </a:tr>
              <a:tr h="530679">
                <a:tc>
                  <a:txBody>
                    <a:bodyPr>
                      <a:noAutofit/>
                    </a:bodyPr>
                    <a:lstStyle/>
                    <a:p>
                      <a:r>
                        <a:rPr sz="1950" b="0">
                          <a:solidFill>
                            <a:srgbClr val="1B2B36"/>
                          </a:solidFill>
                          <a:latin typeface="Helvetica Neue"/>
                          <a:ea typeface="Helvetica Neue"/>
                          <a:cs typeface="Helvetica Neue"/>
                        </a:rPr>
                        <a:t>Basis operator O_i</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Overlap quantity</a:t>
                      </a:r>
                    </a:p>
                  </a:txBody>
                  <a:tcPr marL="91440" marR="91440" marT="45720" marB="45720">
                    <a:solidFill>
                      <a:srgbClr val="FFFFFF"/>
                    </a:solidFill>
                  </a:tcPr>
                </a:tc>
              </a:tr>
              <a:tr h="530679">
                <a:tc>
                  <a:txBody>
                    <a:bodyPr>
                      <a:noAutofit/>
                    </a:bodyPr>
                    <a:lstStyle/>
                    <a:p>
                      <a:r>
                        <a:rPr sz="1950" b="0">
                          <a:solidFill>
                            <a:srgbClr val="1B2B36"/>
                          </a:solidFill>
                          <a:latin typeface="Helvetica Neue"/>
                          <a:ea typeface="Helvetica Neue"/>
                          <a:cs typeface="Helvetica Neue"/>
                        </a:rPr>
                        <a:t>Rotated mode n and its pivot</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Bound level operator in the key</a:t>
                      </a:r>
                    </a:p>
                  </a:txBody>
                  <a:tcPr marL="91440" marR="91440" marT="45720" marB="45720">
                    <a:solidFill>
                      <a:srgbClr val="EEF2EE"/>
                    </a:solidFill>
                  </a:tcPr>
                </a:tc>
              </a:tr>
              <a:tr h="530679">
                <a:tc>
                  <a:txBody>
                    <a:bodyPr>
                      <a:noAutofit/>
                    </a:bodyPr>
                    <a:lstStyle/>
                    <a:p>
                      <a:r>
                        <a:rPr sz="1950" b="0">
                          <a:solidFill>
                            <a:srgbClr val="1B2B36"/>
                          </a:solidFill>
                          <a:latin typeface="Helvetica Neue"/>
                          <a:ea typeface="Helvetica Neue"/>
                          <a:cs typeface="Helvetica Neue"/>
                        </a:rPr>
                        <a:t>Normalization convention</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Overlap quantity</a:t>
                      </a:r>
                    </a:p>
                  </a:txBody>
                  <a:tcPr marL="91440" marR="91440" marT="45720" marB="45720">
                    <a:solidFill>
                      <a:srgbClr val="FFFFFF"/>
                    </a:solidFill>
                  </a:tcPr>
                </a:tc>
              </a:tr>
              <a:tr h="530679">
                <a:tc>
                  <a:txBody>
                    <a:bodyPr>
                      <a:noAutofit/>
                    </a:bodyPr>
                    <a:lstStyle/>
                    <a:p>
                      <a:r>
                        <a:rPr sz="1950" b="0">
                          <a:solidFill>
                            <a:srgbClr val="1B2B36"/>
                          </a:solidFill>
                          <a:latin typeface="Helvetica Neue"/>
                          <a:ea typeface="Helvetica Neue"/>
                          <a:cs typeface="Helvetica Neue"/>
                        </a:rPr>
                        <a:t>Rotation and fitted amplitudes</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Provenance input references</a:t>
                      </a:r>
                    </a:p>
                  </a:txBody>
                  <a:tcPr marL="91440" marR="91440" marT="45720" marB="45720">
                    <a:solidFill>
                      <a:srgbClr val="EEF2EE"/>
                    </a:solidFill>
                  </a:tcPr>
                </a:tc>
              </a:tr>
              <a:tr h="530679">
                <a:tc>
                  <a:txBody>
                    <a:bodyPr>
                      <a:noAutofit/>
                    </a:bodyPr>
                    <a:lstStyle/>
                    <a:p>
                      <a:r>
                        <a:rPr sz="1950" b="0">
                          <a:solidFill>
                            <a:srgbClr val="1B2B36"/>
                          </a:solidFill>
                          <a:latin typeface="Helvetica Neue"/>
                          <a:ea typeface="Helvetica Neue"/>
                          <a:cs typeface="Helvetica Neue"/>
                        </a:rPr>
                        <a:t>Overlap samples</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Data buffer</a:t>
                      </a:r>
                    </a:p>
                  </a:txBody>
                  <a:tcPr marL="91440" marR="91440" marT="45720" marB="45720">
                    <a:solidFill>
                      <a:srgbClr val="FFFFFF"/>
                    </a:solidFill>
                  </a:tcPr>
                </a:tc>
              </a:tr>
              <a:tr h="530679">
                <a:tc>
                  <a:txBody>
                    <a:bodyPr>
                      <a:noAutofit/>
                    </a:bodyPr>
                    <a:lstStyle/>
                    <a:p>
                      <a:r>
                        <a:rPr sz="1950" b="0">
                          <a:solidFill>
                            <a:srgbClr val="1B2B36"/>
                          </a:solidFill>
                          <a:latin typeface="Helvetica Neue"/>
                          <a:ea typeface="Helvetica Neue"/>
                          <a:cs typeface="Helvetica Neue"/>
                        </a:rPr>
                        <a:t>Operator and mode grid</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Coordinates</a:t>
                      </a:r>
                    </a:p>
                  </a:txBody>
                  <a:tcPr marL="91440" marR="91440" marT="45720" marB="45720">
                    <a:solidFill>
                      <a:srgbClr val="EEF2EE"/>
                    </a:solidFill>
                  </a:tcPr>
                </a:tc>
              </a:tr>
            </a:tbl>
          </a:graphicData>
        </a:graphic>
      </p:graphicFrame>
      <p:sp>
        <p:nvSpPr>
          <p:cNvPr id="3" name="">
            <a:extLst xmlns:a="http://schemas.openxmlformats.org/drawingml/2006/main">
              <a:ext uri="{FF2B5EF4-FFF2-40B4-BE49-F238E27FC236}">
                <a16:creationId xmlns:a16="http://schemas.microsoft.com/office/drawing/2014/main" id="{C5127ABF-23F5-4922-A2D5-4DDAF9CEB888}"/>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The mode binding follows the operator wherever it appears.</a:t>
            </a:r>
          </a:p>
        </p:txBody>
      </p:sp>
      <p:sp>
        <p:nvSpPr>
          <p:cNvPr id="4" name="">
            <a:extLst xmlns:a="http://schemas.openxmlformats.org/drawingml/2006/main">
              <a:ext uri="{FF2B5EF4-FFF2-40B4-BE49-F238E27FC236}">
                <a16:creationId xmlns:a16="http://schemas.microsoft.com/office/drawing/2014/main" id="{527FCFCE-7ED4-47FF-9DF2-7F8B8EC387F3}"/>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10</a:t>
            </a:r>
          </a:p>
        </p:txBody>
      </p:sp>
    </p:spTree>
    <p:extLst>
      <p:ext uri="{BB962C8B-B14F-4D97-AF65-F5344CB8AC3E}">
        <p14:creationId xmlns:p14="http://schemas.microsoft.com/office/powerpoint/2010/main" val="593873123"/>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690BCB-0835-4CB0-9E5C-3C6B828EB719}"/>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A series and a value at one time</a:t>
            </a:r>
          </a:p>
        </p:txBody>
      </p:sp>
      <p:sp>
        <p:nvSpPr>
          <p:cNvPr id="2" name="">
            <a:extLst xmlns:a="http://schemas.openxmlformats.org/drawingml/2006/main">
              <a:ext uri="{FF2B5EF4-FFF2-40B4-BE49-F238E27FC236}">
                <a16:creationId xmlns:a16="http://schemas.microsoft.com/office/drawing/2014/main" id="{8DD805F7-EFF7-4475-8571-0BB73033AF65}"/>
              </a:ext>
            </a:extLst>
          </p:cNvPr>
          <p:cNvSpPr>
            <a:spLocks xmlns:a="http://schemas.openxmlformats.org/drawingml/2006/main" noGrp="1"/>
          </p:cNvSpPr>
          <p:nvPr/>
        </p:nvSpPr>
        <p:spPr>
          <a:xfrm xmlns:a="http://schemas.openxmlformats.org/drawingml/2006/main">
            <a:off x="704850" y="1524000"/>
            <a:ext cx="107823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eff.quantity</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EffectiveEnergy(...) for the whole series</a:t>
            </a:r>
          </a:p>
          <a:p xmlns:a="http://schemas.openxmlformats.org/drawingml/2006/main">
            <a:r>
              <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eff.sel(time=8).quantity</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TimePoint(EffectiveEnergy(...), time=8)</a:t>
            </a:r>
          </a:p>
          <a:p xmlns:a="http://schemas.openxmlformats.org/drawingml/2006/main">
            <a:r>
              <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eff.ts.at(8).quantity</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The same key</a:t>
            </a:r>
          </a:p>
        </p:txBody>
      </p:sp>
      <p:sp>
        <p:nvSpPr>
          <p:cNvPr id="3" name="">
            <a:extLst xmlns:a="http://schemas.openxmlformats.org/drawingml/2006/main">
              <a:ext uri="{FF2B5EF4-FFF2-40B4-BE49-F238E27FC236}">
                <a16:creationId xmlns:a16="http://schemas.microsoft.com/office/drawing/2014/main" id="{37AB76B1-7D94-4167-82E2-168685A36A9D}"/>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Selecting time fixes the argument of the series.</a:t>
            </a:r>
          </a:p>
        </p:txBody>
      </p:sp>
      <p:sp>
        <p:nvSpPr>
          <p:cNvPr id="4" name="">
            <a:extLst xmlns:a="http://schemas.openxmlformats.org/drawingml/2006/main">
              <a:ext uri="{FF2B5EF4-FFF2-40B4-BE49-F238E27FC236}">
                <a16:creationId xmlns:a16="http://schemas.microsoft.com/office/drawing/2014/main" id="{2780E30E-56A1-4DA8-B18F-9AF169423830}"/>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11</a:t>
            </a:r>
          </a:p>
        </p:txBody>
      </p:sp>
    </p:spTree>
    <p:extLst>
      <p:ext uri="{BB962C8B-B14F-4D97-AF65-F5344CB8AC3E}">
        <p14:creationId xmlns:p14="http://schemas.microsoft.com/office/powerpoint/2010/main" val="1083705624"/>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DE5408-FDD6-4348-9148-4441217E1C7C}"/>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The familiar analysis workflow</a:t>
            </a:r>
          </a:p>
        </p:txBody>
      </p:sp>
      <p:sp>
        <p:nvSpPr>
          <p:cNvPr id="2" name="">
            <a:extLst xmlns:a="http://schemas.openxmlformats.org/drawingml/2006/main">
              <a:ext uri="{FF2B5EF4-FFF2-40B4-BE49-F238E27FC236}">
                <a16:creationId xmlns:a16="http://schemas.microsoft.com/office/drawing/2014/main" id="{1F6EA83D-5C7B-4238-B081-18FD60E6DBDE}"/>
              </a:ext>
            </a:extLst>
          </p:cNvPr>
          <p:cNvSpPr>
            <a:spLocks xmlns:a="http://schemas.openxmlformats.org/drawingml/2006/main" noGrp="1"/>
          </p:cNvSpPr>
          <p:nvPr/>
        </p:nvSpPr>
        <p:spPr>
          <a:xfrm xmlns:a="http://schemas.openxmlformats.org/drawingml/2006/main">
            <a:off x="704850" y="1524000"/>
            <a:ext cx="107823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D = pivot.rotate(C).diagonal(component="real")</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c2 = D.isel(operator=2)</a:t>
            </a:r>
          </a:p>
          <a:p xmlns:a="http://schemas.openxmlformats.org/drawingml/2006/main">
            <a:r>
              <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eff = c2.ts.effective_energy()</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fit = c2.ts.fit(single_exp, window=(6, 18),</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                **fit_options)</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E2 = fit.param("E")</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eff.ts.plot(overlay=fit)</a:t>
            </a:r>
          </a:p>
        </p:txBody>
      </p:sp>
      <p:sp>
        <p:nvSpPr>
          <p:cNvPr id="3" name="">
            <a:extLst xmlns:a="http://schemas.openxmlformats.org/drawingml/2006/main">
              <a:ext uri="{FF2B5EF4-FFF2-40B4-BE49-F238E27FC236}">
                <a16:creationId xmlns:a16="http://schemas.microsoft.com/office/drawing/2014/main" id="{2D98123C-8095-44A1-B5E2-A3695FA9E96E}"/>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The standard model supplies the meaning of its energy parameter.</a:t>
            </a:r>
          </a:p>
        </p:txBody>
      </p:sp>
      <p:sp>
        <p:nvSpPr>
          <p:cNvPr id="4" name="">
            <a:extLst xmlns:a="http://schemas.openxmlformats.org/drawingml/2006/main">
              <a:ext uri="{FF2B5EF4-FFF2-40B4-BE49-F238E27FC236}">
                <a16:creationId xmlns:a16="http://schemas.microsoft.com/office/drawing/2014/main" id="{BE893AE5-ED9D-43B7-820E-71EE25675581}"/>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12</a:t>
            </a:r>
          </a:p>
        </p:txBody>
      </p:sp>
    </p:spTree>
    <p:extLst>
      <p:ext uri="{BB962C8B-B14F-4D97-AF65-F5344CB8AC3E}">
        <p14:creationId xmlns:p14="http://schemas.microsoft.com/office/powerpoint/2010/main" val="1483211638"/>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E1677C-8F78-4F76-A9CD-019DD28D0A6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Same quantity, different estimates</a:t>
            </a:r>
          </a:p>
        </p:txBody>
      </p:sp>
      <p:sp>
        <p:nvSpPr>
          <p:cNvPr id="2" name="">
            <a:extLst xmlns:a="http://schemas.openxmlformats.org/drawingml/2006/main">
              <a:ext uri="{FF2B5EF4-FFF2-40B4-BE49-F238E27FC236}">
                <a16:creationId xmlns:a16="http://schemas.microsoft.com/office/drawing/2014/main" id="{E090B95E-1307-47EA-A673-31815F729C5F}"/>
              </a:ext>
            </a:extLst>
          </p:cNvPr>
          <p:cNvSpPr>
            <a:spLocks xmlns:a="http://schemas.openxmlformats.org/drawingml/2006/main" noGrp="1"/>
          </p:cNvSpPr>
          <p:nvPr/>
        </p:nvSpPr>
        <p:spPr>
          <a:xfrm xmlns:a="http://schemas.openxmlformats.org/drawingml/2006/main">
            <a:off x="704850" y="1524000"/>
            <a:ext cx="107823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a = fit_6_18.param("E")</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b = fit_8_20.param("E")</a:t>
            </a:r>
          </a:p>
          <a:p xmlns:a="http://schemas.openxmlformats.org/drawingml/2006/main">
            <a:r>
              <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a.quantity == b.quantity       # True</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a.estimate == b.estimate       # False</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a.provenance.settings          # Window 6 to 18</a:t>
            </a:r>
          </a:p>
          <a:p xmlns:a="http://schemas.openxmlformats.org/drawingml/2006/main">
            <a:pPr>
              <a:defRPr sz="2250" b="0">
                <a:solidFill>
                  <a:srgbClr val="174F57"/>
                </a:solidFill>
                <a:latin typeface="Helvetica Neue"/>
                <a:ea typeface="Helvetica Neue"/>
                <a:cs typeface="Helvetica Neue"/>
              </a:defRPr>
            </a:pPr>
            <a:r>
              <a:rPr sz="2250" b="0">
                <a:solidFill>
                  <a:srgbClr val="174F57"/>
                </a:solidFill>
                <a:latin typeface="Helvetica Neue"/>
                <a:ea typeface="Helvetica Neue"/>
                <a:cs typeface="Helvetica Neue"/>
              </a:rPr>
              <a:t>b.provenance.settings          # Window 8 to 20</a:t>
            </a:r>
          </a:p>
        </p:txBody>
      </p:sp>
      <p:sp>
        <p:nvSpPr>
          <p:cNvPr id="3" name="">
            <a:extLst xmlns:a="http://schemas.openxmlformats.org/drawingml/2006/main">
              <a:ext uri="{FF2B5EF4-FFF2-40B4-BE49-F238E27FC236}">
                <a16:creationId xmlns:a16="http://schemas.microsoft.com/office/drawing/2014/main" id="{0A70B7B4-1C51-4C4E-B3CF-AF6FBDC9936C}"/>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Collections preserve both results by estimate identity.</a:t>
            </a:r>
          </a:p>
        </p:txBody>
      </p:sp>
      <p:sp>
        <p:nvSpPr>
          <p:cNvPr id="4" name="">
            <a:extLst xmlns:a="http://schemas.openxmlformats.org/drawingml/2006/main">
              <a:ext uri="{FF2B5EF4-FFF2-40B4-BE49-F238E27FC236}">
                <a16:creationId xmlns:a16="http://schemas.microsoft.com/office/drawing/2014/main" id="{C524F1CC-9FEC-4631-8759-7B7AE585B0B6}"/>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13</a:t>
            </a:r>
          </a:p>
        </p:txBody>
      </p:sp>
    </p:spTree>
    <p:extLst>
      <p:ext uri="{BB962C8B-B14F-4D97-AF65-F5344CB8AC3E}">
        <p14:creationId xmlns:p14="http://schemas.microsoft.com/office/powerpoint/2010/main" val="662534270"/>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F06854-5934-49C0-80E2-24AEF1825A0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The labels on an array</a:t>
            </a:r>
          </a:p>
        </p:txBody>
      </p:sp>
      <p:graphicFrame>
        <p:nvGraphicFramePr>
          <p:cNvPr id="7" name=""/>
          <p:cNvGraphicFramePr/>
          <p:nvPr/>
        </p:nvGraphicFramePr>
        <p:xfrm>
          <a:off xmlns:a="http://schemas.openxmlformats.org/drawingml/2006/main" x="609600" y="1476375"/>
          <a:ext xmlns:a="http://schemas.openxmlformats.org/drawingml/2006/main" cx="10972800" cy="2524125"/>
        </p:xfrm>
        <a:graphic xmlns:a="http://schemas.openxmlformats.org/drawingml/2006/main">
          <a:graphicData uri="http://schemas.openxmlformats.org/drawingml/2006/table">
            <a:tbl>
              <a:tblPr/>
              <a:tblGrid>
                <a:gridCol w="2286000"/>
                <a:gridCol w="5143500"/>
                <a:gridCol w="3543300"/>
              </a:tblGrid>
              <a:tr h="631031">
                <a:tc>
                  <a:txBody>
                    <a:bodyPr>
                      <a:noAutofit/>
                    </a:bodyPr>
                    <a:lstStyle/>
                    <a:p>
                      <a:r>
                        <a:rPr sz="1950" b="1">
                          <a:solidFill>
                            <a:srgbClr val="FFFFFF"/>
                          </a:solidFill>
                          <a:latin typeface="Helvetica Neue"/>
                          <a:ea typeface="Helvetica Neue"/>
                          <a:cs typeface="Helvetica Neue"/>
                        </a:rPr>
                        <a:t>Axis role</a:t>
                      </a:r>
                    </a:p>
                  </a:txBody>
                  <a:tcPr marL="91440" marR="91440" marT="45720" marB="45720">
                    <a:solidFill>
                      <a:srgbClr val="173F4B"/>
                    </a:solidFill>
                  </a:tcPr>
                </a:tc>
                <a:tc>
                  <a:txBody>
                    <a:bodyPr>
                      <a:noAutofit/>
                    </a:bodyPr>
                    <a:lstStyle/>
                    <a:p>
                      <a:r>
                        <a:rPr sz="1950" b="1">
                          <a:solidFill>
                            <a:srgbClr val="FFFFFF"/>
                          </a:solidFill>
                          <a:latin typeface="Helvetica Neue"/>
                          <a:ea typeface="Helvetica Neue"/>
                          <a:cs typeface="Helvetica Neue"/>
                        </a:rPr>
                        <a:t>Meaning</a:t>
                      </a:r>
                    </a:p>
                  </a:txBody>
                  <a:tcPr marL="91440" marR="91440" marT="45720" marB="45720">
                    <a:solidFill>
                      <a:srgbClr val="173F4B"/>
                    </a:solidFill>
                  </a:tcPr>
                </a:tc>
                <a:tc>
                  <a:txBody>
                    <a:bodyPr>
                      <a:noAutofit/>
                    </a:bodyPr>
                    <a:lstStyle/>
                    <a:p>
                      <a:r>
                        <a:rPr sz="1950" b="1">
                          <a:solidFill>
                            <a:srgbClr val="FFFFFF"/>
                          </a:solidFill>
                          <a:latin typeface="Helvetica Neue"/>
                          <a:ea typeface="Helvetica Neue"/>
                          <a:cs typeface="Helvetica Neue"/>
                        </a:rPr>
                        <a:t>Example</a:t>
                      </a:r>
                    </a:p>
                  </a:txBody>
                  <a:tcPr marL="91440" marR="91440" marT="45720" marB="45720">
                    <a:solidFill>
                      <a:srgbClr val="173F4B"/>
                    </a:solidFill>
                  </a:tcPr>
                </a:tc>
              </a:tr>
              <a:tr h="631031">
                <a:tc>
                  <a:txBody>
                    <a:bodyPr>
                      <a:noAutofit/>
                    </a:bodyPr>
                    <a:lstStyle/>
                    <a:p>
                      <a:r>
                        <a:rPr sz="1950" b="0">
                          <a:solidFill>
                            <a:srgbClr val="1B2B36"/>
                          </a:solidFill>
                          <a:latin typeface="Helvetica Neue"/>
                          <a:ea typeface="Helvetica Neue"/>
                          <a:cs typeface="Helvetica Neue"/>
                        </a:rPr>
                        <a:t>Semantic</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Changes what is measured</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operator or assigned level</a:t>
                      </a:r>
                    </a:p>
                  </a:txBody>
                  <a:tcPr marL="91440" marR="91440" marT="45720" marB="45720">
                    <a:solidFill>
                      <a:srgbClr val="FFFFFF"/>
                    </a:solidFill>
                  </a:tcPr>
                </a:tc>
              </a:tr>
              <a:tr h="631031">
                <a:tc>
                  <a:txBody>
                    <a:bodyPr>
                      <a:noAutofit/>
                    </a:bodyPr>
                    <a:lstStyle/>
                    <a:p>
                      <a:r>
                        <a:rPr sz="1950" b="0">
                          <a:solidFill>
                            <a:srgbClr val="1B2B36"/>
                          </a:solidFill>
                          <a:latin typeface="Helvetica Neue"/>
                          <a:ea typeface="Helvetica Neue"/>
                          <a:cs typeface="Helvetica Neue"/>
                        </a:rPr>
                        <a:t>Parameter</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Changes where a function is evaluated</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time</a:t>
                      </a:r>
                    </a:p>
                  </a:txBody>
                  <a:tcPr marL="91440" marR="91440" marT="45720" marB="45720">
                    <a:solidFill>
                      <a:srgbClr val="EEF2EE"/>
                    </a:solidFill>
                  </a:tcPr>
                </a:tc>
              </a:tr>
              <a:tr h="631031">
                <a:tc>
                  <a:txBody>
                    <a:bodyPr>
                      <a:noAutofit/>
                    </a:bodyPr>
                    <a:lstStyle/>
                    <a:p>
                      <a:r>
                        <a:rPr sz="1950" b="0">
                          <a:solidFill>
                            <a:srgbClr val="1B2B36"/>
                          </a:solidFill>
                          <a:latin typeface="Helvetica Neue"/>
                          <a:ea typeface="Helvetica Neue"/>
                          <a:cs typeface="Helvetica Neue"/>
                        </a:rPr>
                        <a:t>Replicate</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Changes which estimate is shown</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fit window trial</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B21FB91-E09A-48B4-BB56-E3EC05B5F53A}"/>
              </a:ext>
            </a:extLst>
          </p:cNvPr>
          <p:cNvSpPr>
            <a:spLocks xmlns:a="http://schemas.openxmlformats.org/drawingml/2006/main" noGrp="1"/>
          </p:cNvSpPr>
          <p:nvPr/>
        </p:nvSpPr>
        <p:spPr>
          <a:xfrm xmlns:a="http://schemas.openxmlformats.org/drawingml/2006/main">
            <a:off x="609600" y="43053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B36"/>
                </a:solidFill>
                <a:latin typeface="Helvetica Neue"/>
                <a:ea typeface="Helvetica Neue"/>
                <a:cs typeface="Helvetica Neue"/>
              </a:defRPr>
            </a:pPr>
            <a:r>
              <a:rPr sz="2025" b="0">
                <a:solidFill>
                  <a:srgbClr val="1B2B36"/>
                </a:solidFill>
                <a:latin typeface="Helvetica Neue"/>
                <a:ea typeface="Helvetica Neue"/>
                <a:cs typeface="Helvetica Neue"/>
              </a:rPr>
              <a:t>D.quantities gives keys over operator.</a:t>
            </a:r>
          </a:p>
          <a:p xmlns:a="http://schemas.openxmlformats.org/drawingml/2006/main">
            <a:pPr>
              <a:defRPr sz="2025" b="0">
                <a:solidFill>
                  <a:srgbClr val="1B2B36"/>
                </a:solidFill>
                <a:latin typeface="Helvetica Neue"/>
                <a:ea typeface="Helvetica Neue"/>
                <a:cs typeface="Helvetica Neue"/>
              </a:defRPr>
            </a:pPr>
            <a:r>
              <a:rPr sz="2025" b="0">
                <a:solidFill>
                  <a:srgbClr val="1B2B36"/>
                </a:solidFill>
                <a:latin typeface="Helvetica Neue"/>
                <a:ea typeface="Helvetica Neue"/>
                <a:cs typeface="Helvetica Neue"/>
              </a:rPr>
              <a:t>A fit-trial array gives repeated keys over fit.</a:t>
            </a:r>
          </a:p>
          <a:p xmlns:a="http://schemas.openxmlformats.org/drawingml/2006/main">
            <a:pPr>
              <a:defRPr sz="2025" b="0">
                <a:solidFill>
                  <a:srgbClr val="1B2B36"/>
                </a:solidFill>
                <a:latin typeface="Helvetica Neue"/>
                <a:ea typeface="Helvetica Neue"/>
                <a:cs typeface="Helvetica Neue"/>
              </a:defRPr>
            </a:pPr>
            <a:r>
              <a:rPr sz="2025" b="0">
                <a:solidFill>
                  <a:srgbClr val="1B2B36"/>
                </a:solidFill>
                <a:latin typeface="Helvetica Neue"/>
                <a:ea typeface="Helvetica Neue"/>
                <a:cs typeface="Helvetica Neue"/>
              </a:rPr>
              <a:t>The .estimates array distinguishes its individual results.</a:t>
            </a:r>
          </a:p>
        </p:txBody>
      </p:sp>
      <p:sp>
        <p:nvSpPr>
          <p:cNvPr id="4" name="">
            <a:extLst xmlns:a="http://schemas.openxmlformats.org/drawingml/2006/main">
              <a:ext uri="{FF2B5EF4-FFF2-40B4-BE49-F238E27FC236}">
                <a16:creationId xmlns:a16="http://schemas.microsoft.com/office/drawing/2014/main" id="{71E47B4F-D4FD-428D-9E90-414EF46CECD3}"/>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Producers declare roles. Axis names alone do not decide them.</a:t>
            </a:r>
          </a:p>
        </p:txBody>
      </p:sp>
      <p:sp>
        <p:nvSpPr>
          <p:cNvPr id="5" name="">
            <a:extLst xmlns:a="http://schemas.openxmlformats.org/drawingml/2006/main">
              <a:ext uri="{FF2B5EF4-FFF2-40B4-BE49-F238E27FC236}">
                <a16:creationId xmlns:a16="http://schemas.microsoft.com/office/drawing/2014/main" id="{F776F897-D902-441E-A59A-4AA2BC5C5284}"/>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14</a:t>
            </a:r>
          </a:p>
        </p:txBody>
      </p:sp>
    </p:spTree>
    <p:extLst>
      <p:ext uri="{BB962C8B-B14F-4D97-AF65-F5344CB8AC3E}">
        <p14:creationId xmlns:p14="http://schemas.microsoft.com/office/powerpoint/2010/main" val="1519068234"/>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94B5F5-00D1-499A-A1DD-74841AF75930}"/>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Meaning follows the operation</a:t>
            </a:r>
          </a:p>
        </p:txBody>
      </p:sp>
      <p:graphicFrame>
        <p:nvGraphicFramePr>
          <p:cNvPr id="6" name=""/>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4476750"/>
                <a:gridCol w="6496050"/>
              </a:tblGrid>
              <a:tr h="619125">
                <a:tc>
                  <a:txBody>
                    <a:bodyPr>
                      <a:noAutofit/>
                    </a:bodyPr>
                    <a:lstStyle/>
                    <a:p>
                      <a:r>
                        <a:rPr sz="1950" b="1">
                          <a:solidFill>
                            <a:srgbClr val="FFFFFF"/>
                          </a:solidFill>
                          <a:latin typeface="Helvetica Neue"/>
                          <a:ea typeface="Helvetica Neue"/>
                          <a:cs typeface="Helvetica Neue"/>
                        </a:rPr>
                        <a:t>Operation</a:t>
                      </a:r>
                    </a:p>
                  </a:txBody>
                  <a:tcPr marL="91440" marR="91440" marT="45720" marB="45720">
                    <a:solidFill>
                      <a:srgbClr val="173F4B"/>
                    </a:solidFill>
                  </a:tcPr>
                </a:tc>
                <a:tc>
                  <a:txBody>
                    <a:bodyPr>
                      <a:noAutofit/>
                    </a:bodyPr>
                    <a:lstStyle/>
                    <a:p>
                      <a:r>
                        <a:rPr sz="1950" b="1">
                          <a:solidFill>
                            <a:srgbClr val="FFFFFF"/>
                          </a:solidFill>
                          <a:latin typeface="Helvetica Neue"/>
                          <a:ea typeface="Helvetica Neue"/>
                          <a:cs typeface="Helvetica Neue"/>
                        </a:rPr>
                        <a:t>Quantity after the operation</a:t>
                      </a:r>
                    </a:p>
                  </a:txBody>
                  <a:tcPr marL="91440" marR="91440" marT="45720" marB="45720">
                    <a:solidFill>
                      <a:srgbClr val="173F4B"/>
                    </a:solidFill>
                  </a:tcPr>
                </a:tc>
              </a:tr>
              <a:tr h="619125">
                <a:tc>
                  <a:txBody>
                    <a:bodyPr>
                      <a:noAutofit/>
                    </a:bodyPr>
                    <a:lstStyle/>
                    <a:p>
                      <a:r>
                        <a:rPr sz="1950" b="0">
                          <a:solidFill>
                            <a:srgbClr val="1B2B36"/>
                          </a:solidFill>
                          <a:latin typeface="Helvetica Neue"/>
                          <a:ea typeface="Helvetica Neue"/>
                          <a:cs typeface="Helvetica Neue"/>
                        </a:rPr>
                        <a:t>Select or transpose</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Same meaning, with selected coordinates</a:t>
                      </a:r>
                    </a:p>
                  </a:txBody>
                  <a:tcPr marL="91440" marR="91440" marT="45720" marB="45720">
                    <a:solidFill>
                      <a:srgbClr val="FFFFFF"/>
                    </a:solidFill>
                  </a:tcPr>
                </a:tc>
              </a:tr>
              <a:tr h="619125">
                <a:tc>
                  <a:txBody>
                    <a:bodyPr>
                      <a:noAutofit/>
                    </a:bodyPr>
                    <a:lstStyle/>
                    <a:p>
                      <a:r>
                        <a:rPr sz="1950" b="0">
                          <a:solidFill>
                            <a:srgbClr val="1B2B36"/>
                          </a:solidFill>
                          <a:latin typeface="Helvetica Neue"/>
                          <a:ea typeface="Helvetica Neue"/>
                          <a:cs typeface="Helvetica Neue"/>
                        </a:rPr>
                        <a:t>Take the real part</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Component(of=quantity, part="re")</a:t>
                      </a:r>
                    </a:p>
                  </a:txBody>
                  <a:tcPr marL="91440" marR="91440" marT="45720" marB="45720">
                    <a:solidFill>
                      <a:srgbClr val="EEF2EE"/>
                    </a:solidFill>
                  </a:tcPr>
                </a:tc>
              </a:tr>
              <a:tr h="619125">
                <a:tc>
                  <a:txBody>
                    <a:bodyPr>
                      <a:noAutofit/>
                    </a:bodyPr>
                    <a:lstStyle/>
                    <a:p>
                      <a:r>
                        <a:rPr sz="1950" b="0">
                          <a:solidFill>
                            <a:srgbClr val="1B2B36"/>
                          </a:solidFill>
                          <a:latin typeface="Helvetica Neue"/>
                          <a:ea typeface="Helvetica Neue"/>
                          <a:cs typeface="Helvetica Neue"/>
                        </a:rPr>
                        <a:t>Compute C / C</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Derived ratio quantity</a:t>
                      </a:r>
                    </a:p>
                  </a:txBody>
                  <a:tcPr marL="91440" marR="91440" marT="45720" marB="45720">
                    <a:solidFill>
                      <a:srgbClr val="FFFFFF"/>
                    </a:solidFill>
                  </a:tcPr>
                </a:tc>
              </a:tr>
              <a:tr h="619125">
                <a:tc>
                  <a:txBody>
                    <a:bodyPr>
                      <a:noAutofit/>
                    </a:bodyPr>
                    <a:lstStyle/>
                    <a:p>
                      <a:r>
                        <a:rPr sz="1950" b="0">
                          <a:solidFill>
                            <a:srgbClr val="1B2B36"/>
                          </a:solidFill>
                          <a:latin typeface="Helvetica Neue"/>
                          <a:ea typeface="Helvetica Neue"/>
                          <a:cs typeface="Helvetica Neue"/>
                        </a:rPr>
                        <a:t>Normalize E by m_pi</a:t>
                      </a:r>
                    </a:p>
                  </a:txBody>
                  <a:tcPr marL="91440" marR="91440" marT="45720" marB="45720">
                    <a:solidFill>
                      <a:srgbClr val="EEF2EE"/>
                    </a:solidFill>
                  </a:tcPr>
                </a:tc>
                <a:tc>
                  <a:txBody>
                    <a:bodyPr>
                      <a:noAutofit/>
                    </a:bodyPr>
                    <a:lstStyle/>
                    <a:p>
                      <a:r>
                        <a:rPr sz="1950" b="0">
                          <a:solidFill>
                            <a:srgbClr val="1B2B36"/>
                          </a:solidFill>
                          <a:latin typeface="Helvetica Neue"/>
                          <a:ea typeface="Helvetica Neue"/>
                          <a:cs typeface="Helvetica Neue"/>
                        </a:rPr>
                        <a:t>Energy with a normalization reference</a:t>
                      </a:r>
                    </a:p>
                  </a:txBody>
                  <a:tcPr marL="91440" marR="91440" marT="45720" marB="45720">
                    <a:solidFill>
                      <a:srgbClr val="EEF2EE"/>
                    </a:solidFill>
                  </a:tcPr>
                </a:tc>
              </a:tr>
              <a:tr h="619125">
                <a:tc>
                  <a:txBody>
                    <a:bodyPr>
                      <a:noAutofit/>
                    </a:bodyPr>
                    <a:lstStyle/>
                    <a:p>
                      <a:r>
                        <a:rPr sz="1950" b="0">
                          <a:solidFill>
                            <a:srgbClr val="1B2B36"/>
                          </a:solidFill>
                          <a:latin typeface="Helvetica Neue"/>
                          <a:ea typeface="Helvetica Neue"/>
                          <a:cs typeface="Helvetica Neue"/>
                        </a:rPr>
                        <a:t>Rotate the basis</a:t>
                      </a:r>
                    </a:p>
                  </a:txBody>
                  <a:tcPr marL="91440" marR="91440" marT="45720" marB="45720">
                    <a:solidFill>
                      <a:srgbClr val="FFFFFF"/>
                    </a:solidFill>
                  </a:tcPr>
                </a:tc>
                <a:tc>
                  <a:txBody>
                    <a:bodyPr>
                      <a:noAutofit/>
                    </a:bodyPr>
                    <a:lstStyle/>
                    <a:p>
                      <a:r>
                        <a:rPr sz="1950" b="0">
                          <a:solidFill>
                            <a:srgbClr val="1B2B36"/>
                          </a:solidFill>
                          <a:latin typeface="Helvetica Neue"/>
                          <a:ea typeface="Helvetica Neue"/>
                          <a:cs typeface="Helvetica Neue"/>
                        </a:rPr>
                        <a:t>Correlators with new bound operators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E639E43-1A28-41AE-8B25-9EFC6B244F8F}"/>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Arithmetic produces new estimates and records its inputs.</a:t>
            </a:r>
          </a:p>
        </p:txBody>
      </p:sp>
      <p:sp>
        <p:nvSpPr>
          <p:cNvPr id="4" name="">
            <a:extLst xmlns:a="http://schemas.openxmlformats.org/drawingml/2006/main">
              <a:ext uri="{FF2B5EF4-FFF2-40B4-BE49-F238E27FC236}">
                <a16:creationId xmlns:a16="http://schemas.microsoft.com/office/drawing/2014/main" id="{04C8B360-D02A-4242-80B0-E42CF663DC81}"/>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15</a:t>
            </a:r>
          </a:p>
        </p:txBody>
      </p:sp>
    </p:spTree>
    <p:extLst>
      <p:ext uri="{BB962C8B-B14F-4D97-AF65-F5344CB8AC3E}">
        <p14:creationId xmlns:p14="http://schemas.microsoft.com/office/powerpoint/2010/main" val="1015287426"/>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1C5F0F-3147-44FB-8B6E-CCFFFDD0E9AE}"/>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F3B"/>
                </a:solidFill>
                <a:latin typeface="Helvetica Neue"/>
                <a:ea typeface="Helvetica Neue"/>
                <a:cs typeface="Helvetica Neue"/>
              </a:defRPr>
            </a:pPr>
            <a:r>
              <a:rPr sz="3300" b="1">
                <a:solidFill>
                  <a:srgbClr val="132F3B"/>
                </a:solidFill>
                <a:latin typeface="Helvetica Neue"/>
                <a:ea typeface="Helvetica Neue"/>
                <a:cs typeface="Helvetica Neue"/>
              </a:rPr>
              <a:t>What changes for an ObsInfo user</a:t>
            </a:r>
          </a:p>
        </p:txBody>
      </p:sp>
      <p:sp>
        <p:nvSpPr>
          <p:cNvPr id="2" name="">
            <a:extLst xmlns:a="http://schemas.openxmlformats.org/drawingml/2006/main">
              <a:ext uri="{FF2B5EF4-FFF2-40B4-BE49-F238E27FC236}">
                <a16:creationId xmlns:a16="http://schemas.microsoft.com/office/drawing/2014/main" id="{028A2A37-7E47-4D91-9808-EAC2F096CE51}"/>
              </a:ext>
            </a:extLst>
          </p:cNvPr>
          <p:cNvSpPr>
            <a:spLocks xmlns:a="http://schemas.openxmlformats.org/drawingml/2006/main" noGrp="1"/>
          </p:cNvSpPr>
          <p:nvPr/>
        </p:nvSpPr>
        <p:spPr>
          <a:xfrm xmlns:a="http://schemas.openxmlformats.org/drawingml/2006/main">
            <a:off x="704850" y="1581150"/>
            <a:ext cx="107823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Inspect physical meaning with data.quantity.</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Inspect the stored name through data.address.</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Use data.estimate to distinguish fit results.</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Read data.provenance to see how a result was produced.</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Use .ts for time-series operations.</a:t>
            </a:r>
          </a:p>
          <a:p xmlns:a="http://schemas.openxmlformats.org/drawingml/2006/main">
            <a:pPr>
              <a:defRPr sz="2400" b="0">
                <a:solidFill>
                  <a:srgbClr val="1B2B36"/>
                </a:solidFill>
                <a:latin typeface="Helvetica Neue"/>
                <a:ea typeface="Helvetica Neue"/>
                <a:cs typeface="Helvetica Neue"/>
              </a:defRPr>
            </a:pPr>
            <a:r>
              <a:rPr sz="2400" b="0">
                <a:solidFill>
                  <a:srgbClr val="1B2B36"/>
                </a:solidFill>
                <a:latin typeface="Helvetica Neue"/>
                <a:ea typeface="Helvetica Neue"/>
                <a:cs typeface="Helvetica Neue"/>
              </a:rPr>
              <a:t>Keep existing loaders, filters and sample statistics.</a:t>
            </a:r>
          </a:p>
        </p:txBody>
      </p:sp>
      <p:sp>
        <p:nvSpPr>
          <p:cNvPr id="3" name="">
            <a:extLst xmlns:a="http://schemas.openxmlformats.org/drawingml/2006/main">
              <a:ext uri="{FF2B5EF4-FFF2-40B4-BE49-F238E27FC236}">
                <a16:creationId xmlns:a16="http://schemas.microsoft.com/office/drawing/2014/main" id="{E4CE97A6-49D5-4DDD-A28C-7AEB792B305D}"/>
              </a:ext>
            </a:extLst>
          </p:cNvPr>
          <p:cNvSpPr>
            <a:spLocks xmlns:a="http://schemas.openxmlformats.org/drawingml/2006/main" noGrp="1"/>
          </p:cNvSpPr>
          <p:nvPr/>
        </p:nvSpPr>
        <p:spPr>
          <a:xfrm xmlns:a="http://schemas.openxmlformats.org/drawingml/2006/main">
            <a:off x="609600" y="59150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44E"/>
                </a:solidFill>
                <a:latin typeface="Helvetica Neue"/>
                <a:ea typeface="Helvetica Neue"/>
                <a:cs typeface="Helvetica Neue"/>
              </a:defRPr>
            </a:pPr>
            <a:r>
              <a:rPr sz="1950" b="1">
                <a:solidFill>
                  <a:srgbClr val="17644E"/>
                </a:solidFill>
                <a:latin typeface="Helvetica Neue"/>
                <a:ea typeface="Helvetica Neue"/>
                <a:cs typeface="Helvetica Neue"/>
              </a:rPr>
              <a:t>The first implementation proves one complete pivot workflow.</a:t>
            </a:r>
          </a:p>
        </p:txBody>
      </p:sp>
      <p:sp>
        <p:nvSpPr>
          <p:cNvPr id="4" name="">
            <a:extLst xmlns:a="http://schemas.openxmlformats.org/drawingml/2006/main">
              <a:ext uri="{FF2B5EF4-FFF2-40B4-BE49-F238E27FC236}">
                <a16:creationId xmlns:a16="http://schemas.microsoft.com/office/drawing/2014/main" id="{A6FE1AE8-A6B4-4FE8-83F0-E478DBDA41CA}"/>
              </a:ext>
            </a:extLst>
          </p:cNvPr>
          <p:cNvSpPr>
            <a:spLocks xmlns:a="http://schemas.openxmlformats.org/drawingml/2006/main" noGrp="1"/>
          </p:cNvSpPr>
          <p:nvPr/>
        </p:nvSpPr>
        <p:spPr>
          <a:xfrm xmlns:a="http://schemas.openxmlformats.org/drawingml/2006/main">
            <a:off x="11353800" y="626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77C82"/>
                </a:solidFill>
                <a:latin typeface="Helvetica Neue"/>
                <a:ea typeface="Helvetica Neue"/>
                <a:cs typeface="Helvetica Neue"/>
              </a:defRPr>
            </a:pPr>
            <a:r>
              <a:rPr sz="1275" b="0">
                <a:solidFill>
                  <a:srgbClr val="677C82"/>
                </a:solidFill>
                <a:latin typeface="Helvetica Neue"/>
                <a:ea typeface="Helvetica Neue"/>
                <a:cs typeface="Helvetica Neue"/>
              </a:rPr>
              <a:t>16</a:t>
            </a:r>
          </a:p>
        </p:txBody>
      </p:sp>
    </p:spTree>
    <p:extLst>
      <p:ext uri="{BB962C8B-B14F-4D97-AF65-F5344CB8AC3E}">
        <p14:creationId xmlns:p14="http://schemas.microsoft.com/office/powerpoint/2010/main" val="2053697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2026-10-08T20:57:21.2590000Z</dcterms:created>
  <dcterms:modified xsi:type="dcterms:W3CDTF">2026-10-08T20:57:21.2590000Z</dcterms:modified>
</coreProperties>
</file>